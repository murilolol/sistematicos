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75808" y="77724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775808" y="777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SISTEMÁTICOS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66648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camada moderna e em tempo real sobre o portal acadêmico da UniFEF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3848" y="4069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pessoal e acadêmico  ·  não oficial  ·  sem vínculo institucional com a UniFEF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98568" y="5349240"/>
            <a:ext cx="21945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Murilo Rocha Silva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58978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 — UniFEF  ·  4º semestre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acadêmico oficial da UniFEF roda sobre uma stack legada (JSF/PrimeFaces): navegação síncrona, pouco suporte a celular e nenhum recurso em tempo real.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1860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791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606040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Recarrega a página a cada clique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990088"/>
            <a:ext cx="41756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ação — ver nota, trocar de aba, aplicar um filtro — dispara um novo ciclo completo de requisição e renderização no servidor.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4448" y="2423160"/>
            <a:ext cx="531860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0480" y="26791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804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8848" y="2606040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suporte real a celular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38848" y="2990088"/>
            <a:ext cx="41756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pensado para desktop; no celular, a mesma interface só é encolhida, não redesenhada.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24528"/>
            <a:ext cx="531860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480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407408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recurso em tempo real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791456"/>
            <a:ext cx="41756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chat entre alunos, sem notificação instantânea de aviso — tudo exige recarregar a página.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24448" y="4224528"/>
            <a:ext cx="531860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0480" y="4480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5804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38848" y="4407408"/>
            <a:ext cx="4175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PIX para mensalidade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38848" y="4791456"/>
            <a:ext cx="41756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restrito ao boleto tradicional, sem QR Code ou confirmação instantânea.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0876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Resolve tudo ao vivo. ”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duplicamos o registro acadêmico do aluno — cada nota, falta ou boleto é resolvido ao vivo, direto no portal oficial, a cada requisição.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560320"/>
                <a:gridCol w="259049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oficial (JSF)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Sistemáticos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Recarrega a página a cada clique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responsivo para celular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em tempo real entre alunos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Simulador de médias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 para mensalidade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Instalável como app (PWA)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 oficial dos dados acadêmicos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o mesmo 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POR DENTRO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não guarda notas, faltas ou boletos — mantém só uma sessão-ponte em memória e resolve cada requisição ao vivo contra o portal institucional.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063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044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instalável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64228" y="2788920"/>
            <a:ext cx="3063240" cy="1737360"/>
          </a:xfrm>
          <a:prstGeom prst="roundRect">
            <a:avLst>
              <a:gd name="adj" fmla="val 6316"/>
            </a:avLst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47108" y="3044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Sistemáticos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47108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+ Socket.IO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Sessão-ponte em memória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79815" y="2788920"/>
            <a:ext cx="3063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62695" y="30449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institucional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2695" y="35661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JSF / PrimeFaces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(fonte oficial dos dados)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66744" y="3337560"/>
            <a:ext cx="842620" cy="25603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2332" y="3337560"/>
            <a:ext cx="842620" cy="25603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2953512"/>
            <a:ext cx="9523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+ WebSocket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27468" y="2953512"/>
            <a:ext cx="9523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ao vivo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(ViewState + FEFSSID)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processo Node serve API, WebSocket e o build estático da SPA — sem CDN, sem hosts separados.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técnica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515258" cy="685800"/>
          </a:xfrm>
          <a:prstGeom prst="roundRect">
            <a:avLst>
              <a:gd name="adj" fmla="val 16000"/>
            </a:avLst>
          </a:prstGeom>
          <a:solidFill>
            <a:srgbClr val="1B243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515258" cy="32004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301233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+ shadcn/ui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8218" y="1691640"/>
            <a:ext cx="3515258" cy="685800"/>
          </a:xfrm>
          <a:prstGeom prst="roundRect">
            <a:avLst>
              <a:gd name="adj" fmla="val 16000"/>
            </a:avLst>
          </a:prstGeom>
          <a:solidFill>
            <a:srgbClr val="1B2436"/>
          </a:solidFill>
          <a:ln/>
        </p:spPr>
      </p:sp>
      <p:sp>
        <p:nvSpPr>
          <p:cNvPr id="11" name="Shape 9"/>
          <p:cNvSpPr/>
          <p:nvPr/>
        </p:nvSpPr>
        <p:spPr>
          <a:xfrm>
            <a:off x="4338218" y="2057400"/>
            <a:ext cx="3515258" cy="32004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21098" y="169164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4250" y="2651760"/>
            <a:ext cx="301233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tempo real, salas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Cheerio — parsing / sincronização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42976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27797" y="1691640"/>
            <a:ext cx="3515258" cy="685800"/>
          </a:xfrm>
          <a:prstGeom prst="roundRect">
            <a:avLst>
              <a:gd name="adj" fmla="val 16000"/>
            </a:avLst>
          </a:prstGeom>
          <a:solidFill>
            <a:srgbClr val="1B2436"/>
          </a:solidFill>
          <a:ln/>
        </p:spPr>
      </p:sp>
      <p:sp>
        <p:nvSpPr>
          <p:cNvPr id="16" name="Shape 14"/>
          <p:cNvSpPr/>
          <p:nvPr/>
        </p:nvSpPr>
        <p:spPr>
          <a:xfrm>
            <a:off x="8127797" y="2057400"/>
            <a:ext cx="3515258" cy="32004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7" name="Text 15"/>
          <p:cNvSpPr/>
          <p:nvPr/>
        </p:nvSpPr>
        <p:spPr>
          <a:xfrm>
            <a:off x="8310677" y="1691640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e segurança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3829" y="2651760"/>
            <a:ext cx="301233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httpOnly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(memória + disco)</a:t>
            </a:r>
            <a:endParaRPr lang="en-US" sz="1350" dirty="0"/>
          </a:p>
          <a:p>
            <a:pPr marL="177800" indent="-1778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sempre resolvido da sessão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DE SEGURANÇA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 é sempre resolvido a partir da sessão do servidor — nunca de um campo enviado pelo cliente.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317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com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0824" y="224028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0824" y="23317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27984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restritas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admin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3008" y="224028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3008" y="23317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70168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“dono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admin”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75191" y="2240280"/>
            <a:ext cx="2567864" cy="1417320"/>
          </a:xfrm>
          <a:prstGeom prst="roundRect">
            <a:avLst>
              <a:gd name="adj" fmla="val 7742"/>
            </a:avLst>
          </a:prstGeom>
          <a:solidFill>
            <a:srgbClr val="141C2E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75191" y="23317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212351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socket.authRa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11094415" cy="1965960"/>
          </a:xfrm>
          <a:prstGeom prst="roundRect">
            <a:avLst>
              <a:gd name="adj" fmla="val 558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114800"/>
            <a:ext cx="105457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getAuthRa = (req) =&gt; req.fefSession?.ra || null;
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nunca lê req.body.ra / req.query.ra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requireAuth = (req, res, next) =&gt;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ra = getAuthRa(req);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(!ra) return res.status(401).json({ error: 'Autenticação necessária' });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req.authRa = ra;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institucional cifrada em repouso (AES-256-GCM)   ·   Rate limit: 10 tentativas de login / 15 min, 300 req / min geral   ·   Cookie httpOnly, SameSite=Lax, Secure em produção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E CONFORMIDADE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37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 e minimização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só autentica contra o portal; notas, faltas e boletos nunca são persistidos — buscados ao vivo e descartados após a resposta.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9377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3009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6393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institucional cifrada em repouso (AES-256-GCM); cookie httpOnly / SameSite; rate limiting contra força bruta.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49377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76402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10235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e ARCHITECTURE.md descrevem publicamente, em detalhe, como cada dado é tratado.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52160" y="1691640"/>
            <a:ext cx="5790895" cy="4343400"/>
          </a:xfrm>
          <a:prstGeom prst="roundRect">
            <a:avLst>
              <a:gd name="adj" fmla="val 2526"/>
            </a:avLst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874520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Autoexclusão de conta — DELETE /api/account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52422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de fato: perfil, tarefas, lembretes e histórico de pagamentos/login.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Anonimiza (não apaga): mensagens de chat, comentários e histórico público de doações.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art. 16 da LGPD — permite anonimização quando a exclusão total prejudicaria interesse legítimo de terceiros.</a:t>
            </a:r>
            <a:endParaRPr lang="en-US" sz="1250" dirty="0"/>
          </a:p>
          <a:p>
            <a:pPr marL="203200" indent="-203200">
              <a:lnSpc>
                <a:spcPct val="112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acadêmico oficial (notas, frequência, matrícula) continua sob controle exclusivo da FEF, que mantém seu próprio Encarregado de Dados.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EXISTE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61872" y="1837944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Notas, frequência e simulador de médias.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8218" y="1691640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9386" y="18745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3938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51450" y="1837944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7674" y="2350008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e QR Code PIX para mensalidade.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7797" y="1691640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8965" y="187452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328965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41029" y="1837944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47253" y="2350008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 tempo real, DMs e suporte.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46704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52958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61872" y="3493008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4005072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sincronizado com Google Classroom.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8218" y="3346704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39386" y="352958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539386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51450" y="3493008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Acadêmico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7674" y="4005072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Calculadoras, banco de provas, carreira.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7797" y="3346704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8965" y="352958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8328965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41029" y="3493008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47253" y="4005072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pessoal de entregas e provas.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001768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18464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61872" y="5148072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68096" y="566013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Diretório de alunos/professores e sugestões.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38218" y="5001768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39386" y="518464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539386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51450" y="5148072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e gestão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557674" y="566013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 por curso, painel para representantes.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27797" y="5001768"/>
            <a:ext cx="3515258" cy="139903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7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28965" y="518464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8328965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41029" y="5148072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347253" y="5660136"/>
            <a:ext cx="30763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capa ABNT e simulador de aprovação.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Capturas de tela</a:t>
            </a:r>
            <a:endParaRPr lang="en-US" sz="3200" dirty="0"/>
          </a:p>
        </p:txBody>
      </p:sp>
      <p:pic>
        <p:nvPicPr>
          <p:cNvPr id="4" name="Image 0" descr="C:\Users\muri\Documents\fef\site\sistematicos-showcase\screenshots\02-dashboard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0604" y="1645920"/>
            <a:ext cx="6190488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37764" y="178308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137764" y="1783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pic>
        <p:nvPicPr>
          <p:cNvPr id="7" name="Image 1" descr="C:\Users\muri\Documents\fef\site\sistematicos-showcase\screenshots\04-bolet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456" y="4937760"/>
            <a:ext cx="2999232" cy="1463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050896" y="50292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3050896" y="5029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Boletim</a:t>
            </a:r>
            <a:endParaRPr lang="en-US" sz="900" dirty="0"/>
          </a:p>
        </p:txBody>
      </p:sp>
      <p:pic>
        <p:nvPicPr>
          <p:cNvPr id="10" name="Image 2" descr="C:\Users\muri\Documents\fef\site\sistematicos-showcase\screenshots\05-mensalida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8" y="4937760"/>
            <a:ext cx="2999232" cy="1463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24448" y="502920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B1220">
              <a:alpha val="85000"/>
            </a:srgbClr>
          </a:solidFill>
          <a:ln/>
        </p:spPr>
      </p:sp>
      <p:sp>
        <p:nvSpPr>
          <p:cNvPr id="12" name="Text 7"/>
          <p:cNvSpPr/>
          <p:nvPr/>
        </p:nvSpPr>
        <p:spPr>
          <a:xfrm>
            <a:off x="6324448" y="5029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· PIX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7043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TÉCNICO VERIFICADO NESTA SESSÃO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de engenharia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1691640"/>
            <a:ext cx="104726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sobrevive a restart do servidor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2020824"/>
            <a:ext cx="10472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cifrado (AES-256-GCM) em disco, recarregado e decifrado na inicialização do processo — antes, um restart derrubava todo mundo de uma vez.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42616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587752"/>
            <a:ext cx="104726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sempre pela sessão, nunca pelo cliente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916936"/>
            <a:ext cx="10472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derivado do cookie de sessão em 40 rotas HTTP (26 requireAuth + 9 admin + 5 dono-ou-admin) e 25 pontos de socket.authRa em tempo real.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3483864"/>
            <a:ext cx="104726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Autoexclusão de conta (LGPD)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813048"/>
            <a:ext cx="10472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/api/account: apaga dados próprios do titular e anonimiza (art. 16 LGPD) o que outras pessoas ainda dependem — chat, comentários, doações.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4379976"/>
            <a:ext cx="104726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Diálogos nativos substituídos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709160"/>
            <a:ext cx="10472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window.confirm / window.alert trocados por ConfirmContext e ToastContext — componentes React animados, no tema da aplicação.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5276088"/>
            <a:ext cx="1047262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 CSS corrigido na raiz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605272"/>
            <a:ext cx="10472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transform de aceleração de GPU em &lt;main&gt;/&lt;aside&gt; quebrava o containing block de position:fixed, descentralizando todo modal em tela cheia (incl. o de PIX) no mobile.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217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diretamente no código-fonte e documentado em ARCHITECTURE.md.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3240" y="822960"/>
            <a:ext cx="585216" cy="58521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803240" y="822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600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40968" y="2514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  —  um portal acadêmico não oficial, feito para resolver um problema real de aluno para aluno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58088" y="356616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32408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32408" y="39502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github.com/murilolol/sistematicos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3566160"/>
            <a:ext cx="4754880" cy="868680"/>
          </a:xfrm>
          <a:prstGeom prst="roundRect">
            <a:avLst>
              <a:gd name="adj" fmla="val 12632"/>
            </a:avLst>
          </a:prstGeom>
          <a:solidFill>
            <a:srgbClr val="141C2E"/>
          </a:solidFill>
          <a:ln/>
          <a:effectLst>
            <a:outerShdw sx="100000" sy="100000" kx="0" ky="0" algn="bl" rotWithShape="0" blurRad="101600" dist="38100" dir="5400000">
              <a:srgbClr val="0B122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53048" y="3675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53048" y="39502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sistematicos.site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Murilo Rocha Silva  ·  Sistemas de Informação — UniFEF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528523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murilolol   ·   Instagram: @muriloodev   ·   LinkedIn: murilodev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SISTEMÁTICOS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2026-08-29T18:30:53Z</dcterms:created>
  <dcterms:modified xsi:type="dcterms:W3CDTF">2026-08-29T18:30:53Z</dcterms:modified>
</cp:coreProperties>
</file>