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103120"/>
            <a:ext cx="6583680" cy="5120640"/>
          </a:xfrm>
          <a:prstGeom prst="ellipse">
            <a:avLst/>
          </a:prstGeom>
          <a:solidFill>
            <a:srgbClr val="1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 spc="220">
                <a:solidFill>
                  <a:srgbClr val="20B2AA"/>
                </a:solidFill>
                <a:latin typeface="Consolas"/>
              </a:rPr>
              <a:t>PROJETO ACADÊMICO — SISTEMAS DE INFORMAÇÃO · UNIFEF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457200" cy="2540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508760"/>
            <a:ext cx="1118585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800" b="1" i="1">
                <a:solidFill>
                  <a:srgbClr val="FFFFFF"/>
                </a:solidFill>
                <a:latin typeface="Inter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246120"/>
            <a:ext cx="8778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700" b="0" i="0">
                <a:solidFill>
                  <a:srgbClr val="F4F4F5"/>
                </a:solidFill>
                <a:latin typeface="Inter"/>
              </a:rPr>
              <a:t>Portal acadêmico não oficial da UniFEF — uma camada moderna e em tempo real sobre o sistema institucional legado, </a:t>
            </a:r>
            <a:r>
              <a:rPr sz="1700" b="1" i="0">
                <a:solidFill>
                  <a:srgbClr val="20B2AA"/>
                </a:solidFill>
                <a:latin typeface="Inter"/>
              </a:rPr>
              <a:t>sem duplicar nenhum dado do aluno.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16052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33B38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 spc="50">
                <a:solidFill>
                  <a:srgbClr val="20B2AA"/>
                </a:solidFill>
                <a:latin typeface="Consolas"/>
              </a:rPr>
              <a:t>React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09928" y="4160520"/>
            <a:ext cx="1655064" cy="310896"/>
          </a:xfrm>
          <a:prstGeom prst="roundRect">
            <a:avLst>
              <a:gd name="adj" fmla="val 50000"/>
            </a:avLst>
          </a:prstGeom>
          <a:solidFill>
            <a:srgbClr val="133B38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 spc="50">
                <a:solidFill>
                  <a:srgbClr val="20B2AA"/>
                </a:solidFill>
                <a:latin typeface="Consolas"/>
              </a:rPr>
              <a:t>TypeScript 5.7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4160520"/>
            <a:ext cx="1367028" cy="310896"/>
          </a:xfrm>
          <a:prstGeom prst="roundRect">
            <a:avLst>
              <a:gd name="adj" fmla="val 50000"/>
            </a:avLst>
          </a:prstGeom>
          <a:solidFill>
            <a:srgbClr val="133B38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 spc="50">
                <a:solidFill>
                  <a:srgbClr val="20B2AA"/>
                </a:solidFill>
                <a:latin typeface="Consolas"/>
              </a:rPr>
              <a:t>Tailwind v4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8052" y="4160520"/>
            <a:ext cx="1847088" cy="310896"/>
          </a:xfrm>
          <a:prstGeom prst="roundRect">
            <a:avLst>
              <a:gd name="adj" fmla="val 50000"/>
            </a:avLst>
          </a:prstGeom>
          <a:solidFill>
            <a:srgbClr val="133B38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 spc="50">
                <a:solidFill>
                  <a:srgbClr val="20B2AA"/>
                </a:solidFill>
                <a:latin typeface="Consolas"/>
              </a:rPr>
              <a:t>Node / Express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3156" y="416052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133B38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 spc="50">
                <a:solidFill>
                  <a:srgbClr val="20B2AA"/>
                </a:solidFill>
                <a:latin typeface="Consolas"/>
              </a:rPr>
              <a:t>Socket.IO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66176" y="4160520"/>
            <a:ext cx="598932" cy="310896"/>
          </a:xfrm>
          <a:prstGeom prst="roundRect">
            <a:avLst>
              <a:gd name="adj" fmla="val 50000"/>
            </a:avLst>
          </a:prstGeom>
          <a:solidFill>
            <a:srgbClr val="133B38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4864" rIns="54864" tIns="0" bIns="0"/>
          <a:lstStyle/>
          <a:p>
            <a:pPr algn="ctr"/>
            <a:r>
              <a:rPr sz="1050" b="1" i="0" spc="50">
                <a:solidFill>
                  <a:srgbClr val="20B2AA"/>
                </a:solidFill>
                <a:latin typeface="Consolas"/>
              </a:rPr>
              <a:t>PWA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02920" y="4892040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2920" y="5093208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500" b="1" i="0">
                <a:solidFill>
                  <a:srgbClr val="F4F4F5"/>
                </a:solidFill>
                <a:latin typeface="Inter"/>
              </a:rPr>
              <a:t>Murilo Rocha Silva</a:t>
            </a:r>
          </a:p>
          <a:p>
            <a:pPr>
              <a:spcBef>
                <a:spcPts val="200"/>
              </a:spcBef>
            </a:pPr>
            <a:r>
              <a:rPr sz="1200" b="0" i="0">
                <a:solidFill>
                  <a:srgbClr val="ADAEB6"/>
                </a:solidFill>
                <a:latin typeface="Inter"/>
              </a:rPr>
              <a:t>19 anos · programando há 3 · 4º semestre de Sistemas de Informação, UniFEF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5093208"/>
            <a:ext cx="30019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20B2AA"/>
                </a:solidFill>
                <a:latin typeface="Consolas"/>
              </a:rPr>
              <a:t>sistematicos.site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1">
                <a:solidFill>
                  <a:srgbClr val="FFFFFF"/>
                </a:solidFill>
                <a:latin typeface="Inter"/>
              </a:rPr>
              <a:t>Sumário</a:t>
            </a:r>
            <a:r>
              <a:rPr sz="3000" b="1" i="1">
                <a:solidFill>
                  <a:srgbClr val="20B2AA"/>
                </a:solidFill>
                <a:latin typeface="Inter"/>
              </a:rPr>
              <a:t> desta apresentação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32588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1">
                <a:solidFill>
                  <a:srgbClr val="20B2AA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307592"/>
            <a:ext cx="48431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4F5"/>
                </a:solidFill>
                <a:latin typeface="Inter"/>
              </a:rPr>
              <a:t>O problema e a solução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por que o portal legado incomoda, e o princípio central do Sistemáticos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1226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1">
                <a:solidFill>
                  <a:srgbClr val="20B2AA"/>
                </a:solidFill>
                <a:latin typeface="Inter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093976"/>
            <a:ext cx="48431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4F5"/>
                </a:solidFill>
                <a:latin typeface="Inter"/>
              </a:rPr>
              <a:t>Comparação com o portal oficial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tabela completa, recurso por recurso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9864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1">
                <a:solidFill>
                  <a:srgbClr val="20B2AA"/>
                </a:solidFill>
                <a:latin typeface="Inter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" y="2880360"/>
            <a:ext cx="48431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4F5"/>
                </a:solidFill>
                <a:latin typeface="Inter"/>
              </a:rPr>
              <a:t>Os 12 módulos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o que cada área da plataforma realmente faz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685032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1">
                <a:solidFill>
                  <a:srgbClr val="20B2AA"/>
                </a:solidFill>
                <a:latin typeface="Inter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666744"/>
            <a:ext cx="48431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4F5"/>
                </a:solidFill>
                <a:latin typeface="Inter"/>
              </a:rPr>
              <a:t>Arquitetura e autenticação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fluxo cliente ↔ servidor ↔ portal FEF, passo a passo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7141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1">
                <a:solidFill>
                  <a:srgbClr val="20B2AA"/>
                </a:solidFill>
                <a:latin typeface="Inter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453128"/>
            <a:ext cx="48431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4F5"/>
                </a:solidFill>
                <a:latin typeface="Inter"/>
              </a:rPr>
              <a:t>Sessão, scraping e tempo real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renovação automática, protocolo JSF, Socket.IO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32588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1">
                <a:solidFill>
                  <a:srgbClr val="20B2AA"/>
                </a:solidFill>
                <a:latin typeface="Inter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5655" y="1307592"/>
            <a:ext cx="48431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4F5"/>
                </a:solidFill>
                <a:latin typeface="Inter"/>
              </a:rPr>
              <a:t>Mapa de API e autorização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80 rotas, 22 eventos, e o padrão requireAuth/requireAdmin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11226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1">
                <a:solidFill>
                  <a:srgbClr val="20B2AA"/>
                </a:solidFill>
                <a:latin typeface="Inter"/>
              </a:rPr>
              <a:t>07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5655" y="2093976"/>
            <a:ext cx="48431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4F5"/>
                </a:solidFill>
                <a:latin typeface="Inter"/>
              </a:rPr>
              <a:t>Segurança e LGPD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postura de segurança completa e alinhamento com a lei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289864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1">
                <a:solidFill>
                  <a:srgbClr val="20B2AA"/>
                </a:solidFill>
                <a:latin typeface="Inter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45655" y="2880360"/>
            <a:ext cx="48431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4F5"/>
                </a:solidFill>
                <a:latin typeface="Inter"/>
              </a:rPr>
              <a:t>Decisões de arquitetura e stack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trade-offs reais, versão por versão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85032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1">
                <a:solidFill>
                  <a:srgbClr val="20B2AA"/>
                </a:solidFill>
                <a:latin typeface="Inter"/>
              </a:rPr>
              <a:t>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5655" y="3666744"/>
            <a:ext cx="48431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4F5"/>
                </a:solidFill>
                <a:latin typeface="Inter"/>
              </a:rPr>
              <a:t>Capturas de tela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desktop e mobile, lado a lado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78727" y="447141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1">
                <a:solidFill>
                  <a:srgbClr val="20B2AA"/>
                </a:solidFill>
                <a:latin typeface="Inter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5655" y="4453128"/>
            <a:ext cx="484311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50" b="1" i="0">
                <a:solidFill>
                  <a:srgbClr val="F4F4F5"/>
                </a:solidFill>
                <a:latin typeface="Inter"/>
              </a:rPr>
              <a:t>Rigor de engenharia, escopo e autoria</a:t>
            </a:r>
          </a:p>
          <a:p>
            <a:pPr>
              <a:spcBef>
                <a:spcPts val="1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o que foi endurecido nesta sessão, e o que fica de fora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O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1">
                <a:solidFill>
                  <a:srgbClr val="FFFFFF"/>
                </a:solidFill>
                <a:latin typeface="Inter"/>
              </a:rPr>
              <a:t>O </a:t>
            </a:r>
            <a:r>
              <a:rPr sz="3000" b="1" i="1">
                <a:solidFill>
                  <a:srgbClr val="20B2AA"/>
                </a:solidFill>
                <a:latin typeface="Inter"/>
              </a:rPr>
              <a:t>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325880"/>
            <a:ext cx="11185855" cy="86868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28016" bIns="91440"/>
          <a:lstStyle/>
          <a:p>
            <a:pPr algn="ctr">
              <a:lnSpc>
                <a:spcPct val="115000"/>
              </a:lnSpc>
            </a:pPr>
            <a:r>
              <a:rPr sz="1500" b="0" i="1">
                <a:solidFill>
                  <a:srgbClr val="F4F4F5"/>
                </a:solidFill>
                <a:latin typeface="Inter"/>
              </a:rPr>
              <a:t>“O aluno abre o portal para ver uma nota, consulta a frequência em outra aba, entra de novo para ver o boleto — todo semestre, a mesma rotina se repete.”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1118585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50" b="1" i="0">
                <a:solidFill>
                  <a:srgbClr val="F4F4F5"/>
                </a:solidFill>
                <a:latin typeface="Inter"/>
              </a:rPr>
              <a:t>Stack legada JSF/PrimeFaces — </a:t>
            </a:r>
            <a:r>
              <a:rPr sz="1450" b="0" i="0">
                <a:solidFill>
                  <a:srgbClr val="F4F4F5"/>
                </a:solidFill>
                <a:latin typeface="Inter"/>
              </a:rPr>
              <a:t>cada clique dispara um postback síncrono: a página inteira recarrega, sem SPA e sem navegação instantânea.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50" b="1" i="0">
                <a:solidFill>
                  <a:srgbClr val="F4F4F5"/>
                </a:solidFill>
                <a:latin typeface="Inter"/>
              </a:rPr>
              <a:t>Fluxo fragmentado — </a:t>
            </a:r>
            <a:r>
              <a:rPr sz="1450" b="0" i="0">
                <a:solidFill>
                  <a:srgbClr val="F4F4F5"/>
                </a:solidFill>
                <a:latin typeface="Inter"/>
              </a:rPr>
              <a:t>notas em uma tela, frequência em outra, boleto em uma terceira — nenhuma visão unificada do semestre.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50" b="1" i="0">
                <a:solidFill>
                  <a:srgbClr val="F4F4F5"/>
                </a:solidFill>
                <a:latin typeface="Inter"/>
              </a:rPr>
              <a:t>Suporte a celular praticamente inexistente — </a:t>
            </a:r>
            <a:r>
              <a:rPr sz="1450" b="0" i="0">
                <a:solidFill>
                  <a:srgbClr val="F4F4F5"/>
                </a:solidFill>
                <a:latin typeface="Inter"/>
              </a:rPr>
              <a:t>layout pensado para desktop, difícil de usar na correria do dia a dia do aluno.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50" b="1" i="0">
                <a:solidFill>
                  <a:srgbClr val="F4F4F5"/>
                </a:solidFill>
                <a:latin typeface="Inter"/>
              </a:rPr>
              <a:t>Zero tempo real — </a:t>
            </a:r>
            <a:r>
              <a:rPr sz="1450" b="0" i="0">
                <a:solidFill>
                  <a:srgbClr val="F4F4F5"/>
                </a:solidFill>
                <a:latin typeface="Inter"/>
              </a:rPr>
              <a:t>nenhum chat, nenhuma notificação instantânea, nenhuma colaboração entre colegas de turma.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4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50" b="1" i="0">
                <a:solidFill>
                  <a:srgbClr val="F4F4F5"/>
                </a:solidFill>
                <a:latin typeface="Inter"/>
              </a:rPr>
              <a:t>Repetição de rotina — </a:t>
            </a:r>
            <a:r>
              <a:rPr sz="1450" b="0" i="0">
                <a:solidFill>
                  <a:srgbClr val="F4F4F5"/>
                </a:solidFill>
                <a:latin typeface="Inter"/>
              </a:rPr>
              <a:t>abrir o portal, esperar carregar, procurar o menu certo — toda vez que se quer ver algo simples.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1">
                <a:solidFill>
                  <a:srgbClr val="FFFFFF"/>
                </a:solidFill>
                <a:latin typeface="Inter"/>
              </a:rPr>
              <a:t>A </a:t>
            </a:r>
            <a:r>
              <a:rPr sz="3000" b="1" i="1">
                <a:solidFill>
                  <a:srgbClr val="20B2AA"/>
                </a:solidFill>
                <a:latin typeface="Inter"/>
              </a:rPr>
              <a:t>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325880"/>
            <a:ext cx="11185855" cy="1051560"/>
          </a:xfrm>
          <a:prstGeom prst="roundRect">
            <a:avLst>
              <a:gd name="adj" fmla="val 6000"/>
            </a:avLst>
          </a:prstGeom>
          <a:solidFill>
            <a:srgbClr val="133B38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/>
          <a:lstStyle/>
          <a:p>
            <a:pPr algn="ctr"/>
            <a:r>
              <a:rPr sz="2400" b="1" i="1">
                <a:solidFill>
                  <a:srgbClr val="FFFFFF"/>
                </a:solidFill>
                <a:latin typeface="Inter"/>
              </a:rPr>
              <a:t>“Nunca duplicar o registro acadêmico do aluno.”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11185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450" b="1" i="0">
                <a:solidFill>
                  <a:srgbClr val="ADAEB6"/>
                </a:solidFill>
                <a:latin typeface="Inter"/>
              </a:rPr>
              <a:t>Como funciona, em uma frase: </a:t>
            </a:r>
            <a:r>
              <a:rPr sz="1450" b="0" i="0">
                <a:solidFill>
                  <a:srgbClr val="F4F4F5"/>
                </a:solidFill>
                <a:latin typeface="Inter"/>
              </a:rPr>
              <a:t>o aluno entra com o mesmo RA e senha da FEF; o servidor busca cada informação ao vivo, direto do portal oficial, e devolve como JSON limpo para uma interface moderna — nada fica salvo em um banco paralelo.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111858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00" b="1" i="0">
                <a:solidFill>
                  <a:srgbClr val="F4F4F5"/>
                </a:solidFill>
                <a:latin typeface="Inter"/>
              </a:rPr>
              <a:t>Zero atrito — </a:t>
            </a:r>
            <a:r>
              <a:rPr sz="1400" b="0" i="0">
                <a:solidFill>
                  <a:srgbClr val="F4F4F5"/>
                </a:solidFill>
                <a:latin typeface="Inter"/>
              </a:rPr>
              <a:t>notas, faltas, horários, boletos e materiais em uma SPA fluida, sem recarregar página.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00" b="1" i="0">
                <a:solidFill>
                  <a:srgbClr val="F4F4F5"/>
                </a:solidFill>
                <a:latin typeface="Inter"/>
              </a:rPr>
              <a:t>Sem duplicação de dados — </a:t>
            </a:r>
            <a:r>
              <a:rPr sz="1400" b="0" i="0">
                <a:solidFill>
                  <a:srgbClr val="F4F4F5"/>
                </a:solidFill>
                <a:latin typeface="Inter"/>
              </a:rPr>
              <a:t>cada informação é buscada ao vivo direto do portal institucional; nada de notas desatualizadas em um banco paralelo.</a:t>
            </a:r>
          </a:p>
          <a:p>
            <a:pPr>
              <a:lnSpc>
                <a:spcPct val="110000"/>
              </a:lnSpc>
              <a:spcAft>
                <a:spcPts val="1100"/>
              </a:spcAft>
            </a:pPr>
            <a:r>
              <a:rPr sz="14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00" b="1" i="0">
                <a:solidFill>
                  <a:srgbClr val="F4F4F5"/>
                </a:solidFill>
                <a:latin typeface="Inter"/>
              </a:rPr>
              <a:t>Ecossistema completo — </a:t>
            </a:r>
            <a:r>
              <a:rPr sz="1400" b="0" i="0">
                <a:solidFill>
                  <a:srgbClr val="F4F4F5"/>
                </a:solidFill>
                <a:latin typeface="Inter"/>
              </a:rPr>
              <a:t>financeiro com PIX, chat em tempo real, integração com Google Classroom, Kanban de tarefas e uma pequena rede social entre alunos do curso.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03519"/>
            <a:ext cx="11185855" cy="566928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150" b="1" i="0">
                <a:solidFill>
                  <a:srgbClr val="20B2AA"/>
                </a:solidFill>
                <a:latin typeface="Inter"/>
              </a:rPr>
              <a:t>Nota: </a:t>
            </a:r>
            <a:r>
              <a:rPr sz="1150" b="0" i="1">
                <a:solidFill>
                  <a:srgbClr val="ADAEB6"/>
                </a:solidFill>
                <a:latin typeface="Inter"/>
              </a:rPr>
              <a:t>este repositório é uma vitrine técnica — o código-fonte do motor de sincronização e automação é proprietário e não é distribuído publicamente.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FRENTE A FRENTE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1">
                <a:solidFill>
                  <a:srgbClr val="FFFFFF"/>
                </a:solidFill>
                <a:latin typeface="Inter"/>
              </a:rPr>
              <a:t>Sistemáticos </a:t>
            </a:r>
            <a:r>
              <a:rPr sz="3000" b="1" i="1">
                <a:solidFill>
                  <a:srgbClr val="20B2AA"/>
                </a:solidFill>
                <a:latin typeface="Inter"/>
              </a:rPr>
              <a:t>vs. portal oficial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417320"/>
          <a:ext cx="11176711" cy="358444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120640"/>
                <a:gridCol w="3108960"/>
                <a:gridCol w="2947111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Recurso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Portal oficial (JSF)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Sistemáticos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4F4F5"/>
                          </a:solidFill>
                          <a:latin typeface="Inter"/>
                        </a:rPr>
                        <a:t>Recarrega a página a cada clique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4D399"/>
                          </a:solidFill>
                          <a:latin typeface="Inter"/>
                        </a:rPr>
                        <a:t>✓  SIM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87171"/>
                          </a:solidFill>
                          <a:latin typeface="Inter"/>
                        </a:rPr>
                        <a:t>✗  NÃO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4F4F5"/>
                          </a:solidFill>
                          <a:latin typeface="Inter"/>
                        </a:rPr>
                        <a:t>Layout responsivo para celular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87171"/>
                          </a:solidFill>
                          <a:latin typeface="Inter"/>
                        </a:rPr>
                        <a:t>✗  NÃO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4D399"/>
                          </a:solidFill>
                          <a:latin typeface="Inter"/>
                        </a:rPr>
                        <a:t>✓  SIM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4F4F5"/>
                          </a:solidFill>
                          <a:latin typeface="Inter"/>
                        </a:rPr>
                        <a:t>Chat em tempo real entre alunos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87171"/>
                          </a:solidFill>
                          <a:latin typeface="Inter"/>
                        </a:rPr>
                        <a:t>✗  NÃO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4D399"/>
                          </a:solidFill>
                          <a:latin typeface="Inter"/>
                        </a:rPr>
                        <a:t>✓  SIM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4F4F5"/>
                          </a:solidFill>
                          <a:latin typeface="Inter"/>
                        </a:rPr>
                        <a:t>Simulador de médias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87171"/>
                          </a:solidFill>
                          <a:latin typeface="Inter"/>
                        </a:rPr>
                        <a:t>✗  NÃO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4D399"/>
                          </a:solidFill>
                          <a:latin typeface="Inter"/>
                        </a:rPr>
                        <a:t>✓  SIM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4F4F5"/>
                          </a:solidFill>
                          <a:latin typeface="Inter"/>
                        </a:rPr>
                        <a:t>PIX para mensalidade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87171"/>
                          </a:solidFill>
                          <a:latin typeface="Inter"/>
                        </a:rPr>
                        <a:t>✗  NÃO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4D399"/>
                          </a:solidFill>
                          <a:latin typeface="Inter"/>
                        </a:rPr>
                        <a:t>✓  SIM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4F4F5"/>
                          </a:solidFill>
                          <a:latin typeface="Inter"/>
                        </a:rPr>
                        <a:t>Instalável como app (PWA)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87171"/>
                          </a:solidFill>
                          <a:latin typeface="Inter"/>
                        </a:rPr>
                        <a:t>✗  NÃO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4D399"/>
                          </a:solidFill>
                          <a:latin typeface="Inter"/>
                        </a:rPr>
                        <a:t>✓  SIM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 i="0">
                          <a:solidFill>
                            <a:srgbClr val="F4F4F5"/>
                          </a:solidFill>
                          <a:latin typeface="Inter"/>
                        </a:rPr>
                        <a:t>Fonte oficial dos dados acadêmicos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34D399"/>
                          </a:solidFill>
                          <a:latin typeface="Inter"/>
                        </a:rPr>
                        <a:t>✓  SIM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1">
                          <a:solidFill>
                            <a:srgbClr val="ADAEB6"/>
                          </a:solidFill>
                          <a:latin typeface="Inter"/>
                        </a:rPr>
                        <a:t>consulta o mesmo portal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OS 12 MÓDULOS — 1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1">
                <a:solidFill>
                  <a:srgbClr val="FFFFFF"/>
                </a:solidFill>
                <a:latin typeface="Inter"/>
              </a:rPr>
              <a:t>Módulos</a:t>
            </a:r>
            <a:r>
              <a:rPr sz="3000" b="1" i="1">
                <a:solidFill>
                  <a:srgbClr val="20B2AA"/>
                </a:solidFill>
                <a:latin typeface="Inter"/>
              </a:rPr>
              <a:t> em detalhe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325880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BOLETIM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Notas, frequência por disciplina e simulador de médias — descubra quanto falta tirar na próxima prova para passar.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3863" y="1325880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VIDA ACADÊMICA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Horário de aulas, cronograma, matriz curricular, calendário de provas e atividades complementares — tudo lido ao vivo do portal.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863" y="1325880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493008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FINANCEIRO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Mensalidades em aberto e quitadas, boleto e QR Code PIX para pagamento instantâneo.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93008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3863" y="3493008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COMUNICAÇÃO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Chat em tempo real da turma/curso, mensagens diretas privadas entre colegas e central de suporte.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3" y="3493008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OS 12 MÓDULOS — 2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1">
                <a:solidFill>
                  <a:srgbClr val="FFFFFF"/>
                </a:solidFill>
                <a:latin typeface="Inter"/>
              </a:rPr>
              <a:t>Módulos</a:t>
            </a:r>
            <a:r>
              <a:rPr sz="3000" b="1" i="1">
                <a:solidFill>
                  <a:srgbClr val="20B2AA"/>
                </a:solidFill>
                <a:latin typeface="Inter"/>
              </a:rPr>
              <a:t> em detalhe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07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325880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CLASSROOM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Feed de materiais e atividades sincronizado com o Google Classroom das disciplinas.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3863" y="1325880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HUB ACADÊMICO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Calculadora de médias, banco de provas antigas, trilha de carreira e networking — extensões que rodam sobre os dados já carregados, sem novas chamadas ao portal.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863" y="1325880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493008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FERRAMENTAS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Gerador de capa no padrão ABNT com autopreenchimento (curso, autor, instituição) e simulador de aprovação.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93008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3863" y="3493008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TAREFAS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Quadro Kanban pessoal para organizar entregas, trabalhos e provas.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3" y="3493008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OS 12 MÓDULOS — 3 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1">
                <a:solidFill>
                  <a:srgbClr val="FFFFFF"/>
                </a:solidFill>
                <a:latin typeface="Inter"/>
              </a:rPr>
              <a:t>Módulos</a:t>
            </a:r>
            <a:r>
              <a:rPr sz="3000" b="1" i="1">
                <a:solidFill>
                  <a:srgbClr val="20B2AA"/>
                </a:solidFill>
                <a:latin typeface="Inter"/>
              </a:rPr>
              <a:t> em detalhe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325880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AVISOS E GESTÃO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Mural de comunicados por curso/semestre, com painel administrativo para representantes de turma.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23863" y="1325880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COMUNIDADE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Diretório de estudantes e professores, central de sugestões com votação, e loja da atlética.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23863" y="1325880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3493008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APOIO AO PROJETO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Doações voluntárias via PIX, com ranking opcional de apoiadores — mantém a infraestrutura sem cobrar do aluno.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93008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23863" y="3493008"/>
            <a:ext cx="5464911" cy="1965960"/>
          </a:xfrm>
          <a:prstGeom prst="roundRect">
            <a:avLst>
              <a:gd name="adj" fmla="val 45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19456" tIns="164592" bIns="128016" wrap="square"/>
          <a:lstStyle/>
          <a:p>
            <a:pPr algn="ctr"/>
            <a:r>
              <a:rPr sz="1550" b="1" i="1">
                <a:solidFill>
                  <a:srgbClr val="20B2AA"/>
                </a:solidFill>
                <a:latin typeface="Inter"/>
              </a:rPr>
              <a:t>INTERFACE</a:t>
            </a:r>
          </a:p>
          <a:p>
            <a:pPr>
              <a:lnSpc>
                <a:spcPct val="118000"/>
              </a:lnSpc>
              <a:spcBef>
                <a:spcPts val="800"/>
              </a:spcBef>
            </a:pPr>
            <a:r>
              <a:rPr sz="1250" b="0" i="0">
                <a:solidFill>
                  <a:srgbClr val="F4F4F5"/>
                </a:solidFill>
                <a:latin typeface="Inter"/>
              </a:rPr>
              <a:t>Tema claro/escuro, busca universal (Ctrl+K), diálogos e notificações no próprio tema da aplicação, e instalação como app (PWA).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3863" y="3493008"/>
            <a:ext cx="64008" cy="196596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COMO FUNCIONA POR DENTRO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1">
                <a:solidFill>
                  <a:srgbClr val="FFFFFF"/>
                </a:solidFill>
                <a:latin typeface="Inter"/>
              </a:rPr>
              <a:t>Arquitetura </a:t>
            </a:r>
            <a:r>
              <a:rPr sz="3000" b="1" i="1">
                <a:solidFill>
                  <a:srgbClr val="20B2AA"/>
                </a:solidFill>
                <a:latin typeface="Inter"/>
              </a:rPr>
              <a:t>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325880"/>
            <a:ext cx="1118585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 b="0" i="0">
                <a:solidFill>
                  <a:srgbClr val="ADAEB6"/>
                </a:solidFill>
                <a:latin typeface="Inter"/>
              </a:rPr>
              <a:t>O servidor não guarda o registro acadêmico do aluno — mantém apenas uma sessão-ponte em memória e resolve cada requisição ao vivo contra o portal institucional (JSF/PrimeFaces).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03120"/>
            <a:ext cx="2834640" cy="118872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28016" tIns="109728"/>
          <a:lstStyle/>
          <a:p>
            <a:pPr algn="ctr"/>
            <a:r>
              <a:rPr sz="1400" b="1" i="1">
                <a:solidFill>
                  <a:srgbClr val="F4F4F5"/>
                </a:solidFill>
                <a:latin typeface="Inter"/>
              </a:rPr>
              <a:t>Cliente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DAEB6"/>
                </a:solidFill>
                <a:latin typeface="Inter"/>
              </a:rPr>
              <a:t>React 19 + Vite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DAEB6"/>
                </a:solidFill>
                <a:latin typeface="Inter"/>
              </a:rPr>
              <a:t>PWA instalável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103120"/>
            <a:ext cx="2834640" cy="1188720"/>
          </a:xfrm>
          <a:prstGeom prst="roundRect">
            <a:avLst>
              <a:gd name="adj" fmla="val 6000"/>
            </a:avLst>
          </a:prstGeom>
          <a:solidFill>
            <a:srgbClr val="1B1B20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28016" tIns="109728"/>
          <a:lstStyle/>
          <a:p>
            <a:pPr algn="ctr"/>
            <a:r>
              <a:rPr sz="1400" b="1" i="1">
                <a:solidFill>
                  <a:srgbClr val="20B2AA"/>
                </a:solidFill>
                <a:latin typeface="Inter"/>
              </a:rPr>
              <a:t>Servidor Sistemáticos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DAEB6"/>
                </a:solidFill>
                <a:latin typeface="Inter"/>
              </a:rPr>
              <a:t>Express 5 + Socket.IO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DAEB6"/>
                </a:solidFill>
                <a:latin typeface="Inter"/>
              </a:rPr>
              <a:t>único processo Node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80" y="2103120"/>
            <a:ext cx="2834640" cy="118872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46304" rIns="128016" tIns="109728"/>
          <a:lstStyle/>
          <a:p>
            <a:pPr algn="ctr"/>
            <a:r>
              <a:rPr sz="1400" b="1" i="1">
                <a:solidFill>
                  <a:srgbClr val="F4F4F5"/>
                </a:solidFill>
                <a:latin typeface="Inter"/>
              </a:rPr>
              <a:t>Portal institucional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DAEB6"/>
                </a:solidFill>
                <a:latin typeface="Inter"/>
              </a:rPr>
              <a:t>JSF / PrimeFaces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 i="0">
                <a:solidFill>
                  <a:srgbClr val="ADAEB6"/>
                </a:solidFill>
                <a:latin typeface="Inter"/>
              </a:rPr>
              <a:t>fonte da verdade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37560" y="2697480"/>
            <a:ext cx="777240" cy="0"/>
          </a:xfrm>
          <a:prstGeom prst="line">
            <a:avLst/>
          </a:prstGeom>
          <a:ln w="19050">
            <a:solidFill>
              <a:srgbClr val="20B2AA"/>
            </a:solidFill>
            <a:headEnd w="med" len="med" type="triangle"/>
            <a:tailEnd w="med" len="med"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37560" y="240487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4858D"/>
                </a:solidFill>
                <a:latin typeface="Consolas"/>
              </a:rPr>
              <a:t>cookie httpOnly + WebSocket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49440" y="2697480"/>
            <a:ext cx="777240" cy="0"/>
          </a:xfrm>
          <a:prstGeom prst="line">
            <a:avLst/>
          </a:prstGeom>
          <a:ln w="19050">
            <a:solidFill>
              <a:srgbClr val="20B2AA"/>
            </a:solidFill>
            <a:headEnd w="med" len="med" type="triangle"/>
            <a:tailEnd w="med" len="med"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49440" y="2404872"/>
            <a:ext cx="777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84858D"/>
                </a:solidFill>
                <a:latin typeface="Consolas"/>
              </a:rPr>
              <a:t>ViewState + FEFSSID (scraping ao vivo)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3611880"/>
            <a:ext cx="1325880" cy="777240"/>
          </a:xfrm>
          <a:prstGeom prst="roundRect">
            <a:avLst>
              <a:gd name="adj" fmla="val 6000"/>
            </a:avLst>
          </a:prstGeom>
          <a:solidFill>
            <a:srgbClr val="0E0E11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wrap="square"/>
          <a:lstStyle/>
          <a:p>
            <a:pPr algn="ctr"/>
            <a:r>
              <a:rPr sz="1100" b="1" i="0">
                <a:solidFill>
                  <a:srgbClr val="F4F4F5"/>
                </a:solidFill>
                <a:latin typeface="Inter"/>
              </a:rPr>
              <a:t>Sessão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ADAEB6"/>
                </a:solidFill>
                <a:latin typeface="Inter"/>
              </a:rPr>
              <a:t>Map em memória + backup cifrado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3611880"/>
            <a:ext cx="1325880" cy="777240"/>
          </a:xfrm>
          <a:prstGeom prst="roundRect">
            <a:avLst>
              <a:gd name="adj" fmla="val 6000"/>
            </a:avLst>
          </a:prstGeom>
          <a:solidFill>
            <a:srgbClr val="0E0E11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wrap="square"/>
          <a:lstStyle/>
          <a:p>
            <a:pPr algn="ctr"/>
            <a:r>
              <a:rPr sz="1100" b="1" i="0">
                <a:solidFill>
                  <a:srgbClr val="F4F4F5"/>
                </a:solidFill>
                <a:latin typeface="Inter"/>
              </a:rPr>
              <a:t>JSON local</a:t>
            </a:r>
          </a:p>
          <a:p>
            <a:pPr>
              <a:spcBef>
                <a:spcPts val="200"/>
              </a:spcBef>
            </a:pPr>
            <a:r>
              <a:rPr sz="900" b="0" i="0">
                <a:solidFill>
                  <a:srgbClr val="ADAEB6"/>
                </a:solidFill>
                <a:latin typeface="Inter"/>
              </a:rPr>
              <a:t>chat · tarefas · avisos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65192" y="3291840"/>
            <a:ext cx="0" cy="320040"/>
          </a:xfrm>
          <a:prstGeom prst="line">
            <a:avLst/>
          </a:prstGeom>
          <a:ln w="12700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9048" y="3291840"/>
            <a:ext cx="0" cy="320040"/>
          </a:xfrm>
          <a:prstGeom prst="line">
            <a:avLst/>
          </a:prstGeom>
          <a:ln w="12700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02920" y="4572000"/>
            <a:ext cx="111858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</a:pPr>
            <a:r>
              <a:rPr sz="12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50" b="0" i="0">
                <a:solidFill>
                  <a:srgbClr val="F4F4F5"/>
                </a:solidFill>
                <a:latin typeface="Inter"/>
              </a:rPr>
              <a:t>Em produção, o Express serve API + WebSocket + build estático da SPA a partir do mesmo processo Node — sem separação entre “frontend host” e “backend host”.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PASSO A PASSO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Inter"/>
              </a:rPr>
              <a:t>Fluxo de </a:t>
            </a:r>
            <a:r>
              <a:rPr sz="2800" b="1" i="1">
                <a:solidFill>
                  <a:srgbClr val="20B2AA"/>
                </a:solidFill>
                <a:latin typeface="Inter"/>
              </a:rPr>
              <a:t>autenticação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02920" y="1325880"/>
            <a:ext cx="310896" cy="310896"/>
          </a:xfrm>
          <a:prstGeom prst="ellipse">
            <a:avLst/>
          </a:prstGeom>
          <a:solidFill>
            <a:srgbClr val="133B38"/>
          </a:solidFill>
          <a:ln w="12700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20B2AA"/>
                </a:solidFill>
                <a:latin typeface="Consolas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636776"/>
            <a:ext cx="0" cy="164592"/>
          </a:xfrm>
          <a:prstGeom prst="line">
            <a:avLst/>
          </a:prstGeom>
          <a:ln w="12700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60120" y="1316736"/>
            <a:ext cx="107286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30" b="0" i="0">
                <a:solidFill>
                  <a:srgbClr val="F4F4F5"/>
                </a:solidFill>
                <a:latin typeface="Inter"/>
              </a:rPr>
              <a:t>Aluno envia RA + senha → Cliente faz POST /api/login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1801368"/>
            <a:ext cx="310896" cy="310896"/>
          </a:xfrm>
          <a:prstGeom prst="ellipse">
            <a:avLst/>
          </a:prstGeom>
          <a:solidFill>
            <a:srgbClr val="133B38"/>
          </a:solidFill>
          <a:ln w="12700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20B2AA"/>
                </a:solidFill>
                <a:latin typeface="Consolas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2112264"/>
            <a:ext cx="0" cy="164592"/>
          </a:xfrm>
          <a:prstGeom prst="line">
            <a:avLst/>
          </a:prstGeom>
          <a:ln w="12700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60120" y="1792224"/>
            <a:ext cx="107286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30" b="0" i="0">
                <a:solidFill>
                  <a:srgbClr val="F4F4F5"/>
                </a:solidFill>
                <a:latin typeface="Inter"/>
              </a:rPr>
              <a:t>Servidor faz GET /alunos/login no portal FEF → recebe HTML + ViewState + cookie FEFSSID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2276856"/>
            <a:ext cx="310896" cy="310896"/>
          </a:xfrm>
          <a:prstGeom prst="ellipse">
            <a:avLst/>
          </a:prstGeom>
          <a:solidFill>
            <a:srgbClr val="133B38"/>
          </a:solidFill>
          <a:ln w="12700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20B2AA"/>
                </a:solidFill>
                <a:latin typeface="Consolas"/>
              </a:rPr>
              <a:t>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8368" y="2587752"/>
            <a:ext cx="0" cy="164592"/>
          </a:xfrm>
          <a:prstGeom prst="line">
            <a:avLst/>
          </a:prstGeom>
          <a:ln w="12700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960120" y="2267712"/>
            <a:ext cx="107286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30" b="0" i="0">
                <a:solidFill>
                  <a:srgbClr val="F4F4F5"/>
                </a:solidFill>
                <a:latin typeface="Inter"/>
              </a:rPr>
              <a:t>Servidor envia POST partial/ajax (usuário, senha, ViewState) — emula o componente JSF real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2752344"/>
            <a:ext cx="310896" cy="310896"/>
          </a:xfrm>
          <a:prstGeom prst="ellipse">
            <a:avLst/>
          </a:prstGeom>
          <a:solidFill>
            <a:srgbClr val="133B38"/>
          </a:solidFill>
          <a:ln w="12700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20B2AA"/>
                </a:solidFill>
                <a:latin typeface="Consolas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3063240"/>
            <a:ext cx="0" cy="164592"/>
          </a:xfrm>
          <a:prstGeom prst="line">
            <a:avLst/>
          </a:prstGeom>
          <a:ln w="12700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60120" y="2743200"/>
            <a:ext cx="107286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30" b="0" i="0">
                <a:solidFill>
                  <a:srgbClr val="F4F4F5"/>
                </a:solidFill>
                <a:latin typeface="Inter"/>
              </a:rPr>
              <a:t>Credenciais inválidas → 401; sucesso → servidor dispensa interstitials automáticos (modais obrigatórios, até 5 iterações)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227832"/>
            <a:ext cx="310896" cy="310896"/>
          </a:xfrm>
          <a:prstGeom prst="ellipse">
            <a:avLst/>
          </a:prstGeom>
          <a:solidFill>
            <a:srgbClr val="133B38"/>
          </a:solidFill>
          <a:ln w="12700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20B2AA"/>
                </a:solidFill>
                <a:latin typeface="Consolas"/>
              </a:rPr>
              <a:t>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8368" y="3538728"/>
            <a:ext cx="0" cy="164592"/>
          </a:xfrm>
          <a:prstGeom prst="line">
            <a:avLst/>
          </a:prstGeom>
          <a:ln w="12700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0120" y="3218688"/>
            <a:ext cx="107286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30" b="0" i="0">
                <a:solidFill>
                  <a:srgbClr val="F4F4F5"/>
                </a:solidFill>
                <a:latin typeface="Inter"/>
              </a:rPr>
              <a:t>Servidor busca perfil (nome, curso, e-mail, foto, endereço) e detecta o semestre atual varrendo os anos/semestres do boletim</a:t>
            </a:r>
          </a:p>
        </p:txBody>
      </p:sp>
      <p:sp>
        <p:nvSpPr>
          <p:cNvPr id="23" name="Oval 22"/>
          <p:cNvSpPr/>
          <p:nvPr/>
        </p:nvSpPr>
        <p:spPr>
          <a:xfrm>
            <a:off x="502920" y="3703320"/>
            <a:ext cx="310896" cy="310896"/>
          </a:xfrm>
          <a:prstGeom prst="ellipse">
            <a:avLst/>
          </a:prstGeom>
          <a:solidFill>
            <a:srgbClr val="133B38"/>
          </a:solidFill>
          <a:ln w="12700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20B2AA"/>
                </a:solidFill>
                <a:latin typeface="Consolas"/>
              </a:rPr>
              <a:t>6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58368" y="4014216"/>
            <a:ext cx="0" cy="164592"/>
          </a:xfrm>
          <a:prstGeom prst="line">
            <a:avLst/>
          </a:prstGeom>
          <a:ln w="12700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60120" y="3694176"/>
            <a:ext cx="107286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30" b="0" i="0">
                <a:solidFill>
                  <a:srgbClr val="F4F4F5"/>
                </a:solidFill>
                <a:latin typeface="Inter"/>
              </a:rPr>
              <a:t>Cria sessão em memória — senha cifrada com AES-256-GCM</a:t>
            </a:r>
          </a:p>
        </p:txBody>
      </p:sp>
      <p:sp>
        <p:nvSpPr>
          <p:cNvPr id="26" name="Oval 25"/>
          <p:cNvSpPr/>
          <p:nvPr/>
        </p:nvSpPr>
        <p:spPr>
          <a:xfrm>
            <a:off x="502920" y="4178808"/>
            <a:ext cx="310896" cy="310896"/>
          </a:xfrm>
          <a:prstGeom prst="ellipse">
            <a:avLst/>
          </a:prstGeom>
          <a:solidFill>
            <a:srgbClr val="133B38"/>
          </a:solidFill>
          <a:ln w="12700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20B2AA"/>
                </a:solidFill>
                <a:latin typeface="Consolas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169664"/>
            <a:ext cx="10728655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1230" b="0" i="0">
                <a:solidFill>
                  <a:srgbClr val="F4F4F5"/>
                </a:solidFill>
                <a:latin typeface="Inter"/>
              </a:rPr>
              <a:t>Set-Cookie sistematicos_sid (httpOnly, SameSite=Lax, Secure em produção) — cliente nunca vê FEFSSID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709160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100" b="1" i="0">
                <a:solidFill>
                  <a:srgbClr val="20B2AA"/>
                </a:solidFill>
                <a:latin typeface="Inter"/>
              </a:rPr>
              <a:t>Modo convidado não passa por nada disso: </a:t>
            </a:r>
            <a:r>
              <a:rPr sz="1100" b="0" i="1">
                <a:solidFill>
                  <a:srgbClr val="ADAEB6"/>
                </a:solidFill>
                <a:latin typeface="Inter"/>
              </a:rPr>
              <a:t>usuário fictício criado inteiramente no cliente, sem cookie de sessão real e sem contato com a FEF.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O PROTOCOLO POR BAIXO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1">
                <a:solidFill>
                  <a:srgbClr val="FFFFFF"/>
                </a:solidFill>
                <a:latin typeface="Inter"/>
              </a:rPr>
              <a:t>Camada de </a:t>
            </a:r>
            <a:r>
              <a:rPr sz="2800" b="1" i="1">
                <a:solidFill>
                  <a:srgbClr val="20B2AA"/>
                </a:solidFill>
                <a:latin typeface="Inter"/>
              </a:rPr>
              <a:t>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325880"/>
            <a:ext cx="52120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50" b="0" i="0">
                <a:solidFill>
                  <a:srgbClr val="ADAEB6"/>
                </a:solidFill>
                <a:latin typeface="Inter"/>
              </a:rPr>
              <a:t>Todas as rotas acadêmicas somente-leitura seguem o mesmo adaptador:</a:t>
            </a:r>
          </a:p>
          <a:p>
            <a:pPr>
              <a:lnSpc>
                <a:spcPct val="112000"/>
              </a:lnSpc>
              <a:spcBef>
                <a:spcPts val="1000"/>
              </a:spcBef>
            </a:pPr>
            <a:r>
              <a:rPr sz="1250" b="1" i="0">
                <a:solidFill>
                  <a:srgbClr val="20B2AA"/>
                </a:solidFill>
                <a:latin typeface="Inter"/>
              </a:rPr>
              <a:t>1. GET </a:t>
            </a:r>
            <a:r>
              <a:rPr sz="1250" b="0" i="0">
                <a:solidFill>
                  <a:srgbClr val="F4F4F5"/>
                </a:solidFill>
                <a:latin typeface="Inter"/>
              </a:rPr>
              <a:t>da página institucional com headers padronizados (FEF_HEADERS), usando ssid/ssidchk injetados pelo middleware.</a:t>
            </a:r>
          </a:p>
          <a:p>
            <a:pPr>
              <a:lnSpc>
                <a:spcPct val="112000"/>
              </a:lnSpc>
              <a:spcBef>
                <a:spcPts val="1000"/>
              </a:spcBef>
            </a:pPr>
            <a:r>
              <a:rPr sz="1250" b="1" i="0">
                <a:solidFill>
                  <a:srgbClr val="20B2AA"/>
                </a:solidFill>
                <a:latin typeface="Inter"/>
              </a:rPr>
              <a:t>2. Detecção de estado </a:t>
            </a:r>
            <a:r>
              <a:rPr sz="1250" b="0" i="0">
                <a:solidFill>
                  <a:srgbClr val="F4F4F5"/>
                </a:solidFill>
                <a:latin typeface="Inter"/>
              </a:rPr>
              <a:t>nesta ordem: sessão expirada → acesso restrito (403) → interstitial pendente → conteúdo real.</a:t>
            </a:r>
          </a:p>
          <a:p>
            <a:pPr>
              <a:lnSpc>
                <a:spcPct val="112000"/>
              </a:lnSpc>
              <a:spcBef>
                <a:spcPts val="1000"/>
              </a:spcBef>
            </a:pPr>
            <a:r>
              <a:rPr sz="1250" b="1" i="0">
                <a:solidFill>
                  <a:srgbClr val="20B2AA"/>
                </a:solidFill>
                <a:latin typeface="Inter"/>
              </a:rPr>
              <a:t>3. Extração do ViewState </a:t>
            </a:r>
            <a:r>
              <a:rPr sz="1250" b="0" i="0">
                <a:solidFill>
                  <a:srgbClr val="F4F4F5"/>
                </a:solidFill>
                <a:latin typeface="Inter"/>
              </a:rPr>
              <a:t>corrente do HTML — necessário para a próxima interação na mesma página JSF.</a:t>
            </a:r>
          </a:p>
          <a:p>
            <a:pPr>
              <a:lnSpc>
                <a:spcPct val="112000"/>
              </a:lnSpc>
              <a:spcBef>
                <a:spcPts val="1000"/>
              </a:spcBef>
            </a:pPr>
            <a:r>
              <a:rPr sz="1250" b="1" i="0">
                <a:solidFill>
                  <a:srgbClr val="20B2AA"/>
                </a:solidFill>
                <a:latin typeface="Inter"/>
              </a:rPr>
              <a:t>4. POST partial/ajax opcional </a:t>
            </a:r>
            <a:r>
              <a:rPr sz="1250" b="0" i="0">
                <a:solidFill>
                  <a:srgbClr val="F4F4F5"/>
                </a:solidFill>
                <a:latin typeface="Inter"/>
              </a:rPr>
              <a:t>quando a rota aceita filtro (ano, semestre, disciplina) — resposta XML com HTML em CDATA.</a:t>
            </a:r>
          </a:p>
          <a:p>
            <a:pPr>
              <a:lnSpc>
                <a:spcPct val="112000"/>
              </a:lnSpc>
              <a:spcBef>
                <a:spcPts val="1000"/>
              </a:spcBef>
            </a:pPr>
            <a:r>
              <a:rPr sz="1250" b="1" i="0">
                <a:solidFill>
                  <a:srgbClr val="20B2AA"/>
                </a:solidFill>
                <a:latin typeface="Inter"/>
              </a:rPr>
              <a:t>5. Extração estruturada </a:t>
            </a:r>
            <a:r>
              <a:rPr sz="1250" b="0" i="0">
                <a:solidFill>
                  <a:srgbClr val="F4F4F5"/>
                </a:solidFill>
                <a:latin typeface="Inter"/>
              </a:rPr>
              <a:t>com seletores Cheerio → JSON limpo; o frontend nunca lida com HTML bruto.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25880"/>
            <a:ext cx="5699455" cy="1828800"/>
          </a:xfrm>
          <a:prstGeom prst="roundRect">
            <a:avLst>
              <a:gd name="adj" fmla="val 4000"/>
            </a:avLst>
          </a:prstGeom>
          <a:solidFill>
            <a:srgbClr val="0E0E11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 wrap="square"/>
          <a:lstStyle/>
          <a:p>
            <a:pPr algn="ctr"/>
            <a:r>
              <a:rPr sz="950" b="0" i="0">
                <a:solidFill>
                  <a:srgbClr val="84858D"/>
                </a:solidFill>
                <a:latin typeface="Consolas"/>
              </a:rPr>
              <a:t>POST partial/ajax → corpo enviado ao portal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34D399"/>
                </a:solidFill>
                <a:latin typeface="Consolas"/>
              </a:rPr>
              <a:t>jakarta.faces.partial.ajax=true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34D399"/>
                </a:solidFill>
                <a:latin typeface="Consolas"/>
              </a:rPr>
              <a:t>jakarta.faces.source=sem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34D399"/>
                </a:solidFill>
                <a:latin typeface="Consolas"/>
              </a:rPr>
              <a:t>jakarta.faces.partial.execute=sem ano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34D399"/>
                </a:solidFill>
                <a:latin typeface="Consolas"/>
              </a:rPr>
              <a:t>jakarta.faces.partial.render=form-boletim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34D399"/>
                </a:solidFill>
                <a:latin typeface="Consolas"/>
              </a:rPr>
              <a:t>sem=2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34D399"/>
                </a:solidFill>
                <a:latin typeface="Consolas"/>
              </a:rPr>
              <a:t>ano=2026</a:t>
            </a:r>
          </a:p>
          <a:p>
            <a:pPr>
              <a:spcBef>
                <a:spcPts val="300"/>
              </a:spcBef>
            </a:pPr>
            <a:r>
              <a:rPr sz="1000" b="0" i="0">
                <a:solidFill>
                  <a:srgbClr val="34D399"/>
                </a:solidFill>
                <a:latin typeface="Consolas"/>
              </a:rPr>
              <a:t>jakarta.faces.ViewState=8172387123:912873198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3337560"/>
            <a:ext cx="5699455" cy="1417320"/>
          </a:xfrm>
          <a:prstGeom prst="roundRect">
            <a:avLst>
              <a:gd name="adj" fmla="val 4000"/>
            </a:avLst>
          </a:prstGeom>
          <a:solidFill>
            <a:srgbClr val="0E0E11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 wrap="square"/>
          <a:lstStyle/>
          <a:p>
            <a:pPr algn="ctr"/>
            <a:r>
              <a:rPr sz="950" b="0" i="0">
                <a:solidFill>
                  <a:srgbClr val="84858D"/>
                </a:solidFill>
                <a:latin typeface="Consolas"/>
              </a:rPr>
              <a:t>resposta → XML com HTML em CDATA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5FB8FF"/>
                </a:solidFill>
                <a:latin typeface="Consolas"/>
              </a:rPr>
              <a:t>&lt;partial-response&gt;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5FB8FF"/>
                </a:solidFill>
                <a:latin typeface="Consolas"/>
              </a:rPr>
              <a:t>  &lt;changes&gt;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5FB8FF"/>
                </a:solidFill>
                <a:latin typeface="Consolas"/>
              </a:rPr>
              <a:t>    &lt;update id="form-boletim"&gt;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5FB8FF"/>
                </a:solidFill>
                <a:latin typeface="Consolas"/>
              </a:rPr>
              <a:t>      &lt;![CDATA[ ...html atualizado... ]]&gt;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5FB8FF"/>
                </a:solidFill>
                <a:latin typeface="Consolas"/>
              </a:rPr>
              <a:t>    &lt;/update&gt;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5FB8FF"/>
                </a:solidFill>
                <a:latin typeface="Consolas"/>
              </a:rPr>
              <a:t>  &lt;/changes&gt;</a:t>
            </a:r>
          </a:p>
          <a:p>
            <a:pPr>
              <a:spcBef>
                <a:spcPts val="200"/>
              </a:spcBef>
            </a:pPr>
            <a:r>
              <a:rPr sz="950" b="0" i="0">
                <a:solidFill>
                  <a:srgbClr val="5FB8FF"/>
                </a:solidFill>
                <a:latin typeface="Consolas"/>
              </a:rPr>
              <a:t>&lt;/partial-response&gt;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DE-DUPLICAÇÃO, TTL E POR QUE NÃO É SÓ MEMÓRIA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1">
                <a:solidFill>
                  <a:srgbClr val="FFFFFF"/>
                </a:solidFill>
                <a:latin typeface="Inter"/>
              </a:rPr>
              <a:t>Sessão e </a:t>
            </a:r>
            <a:r>
              <a:rPr sz="2600" b="1" i="1">
                <a:solidFill>
                  <a:srgbClr val="20B2AA"/>
                </a:solidFill>
                <a:latin typeface="Inter"/>
              </a:rPr>
              <a:t>renovação automática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325880"/>
            <a:ext cx="649224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1" i="0">
                <a:solidFill>
                  <a:srgbClr val="F4F4F5"/>
                </a:solidFill>
                <a:latin typeface="Inter"/>
              </a:rPr>
              <a:t>Sessão da FEF expira rápido (~20 min) —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bem mais rápido que a sessão do Sistemáticos (TTL de 12h). O fefSessionMiddleware detecta a sessão institucional envelhecida e re-executa o login completo sozinho, de forma transparente.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1" i="0">
                <a:solidFill>
                  <a:srgbClr val="F4F4F5"/>
                </a:solidFill>
                <a:latin typeface="Inter"/>
              </a:rPr>
              <a:t>De-duplicação de refresh em voo —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um carregamento de página dispara várias chamadas em paralelo (dashboard, boletim, horário...). Um Map de promises em andamento por sessionId garante que só a primeira relogue; as demais aguardam o mesmo resultado.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1" i="0">
                <a:solidFill>
                  <a:srgbClr val="F4F4F5"/>
                </a:solidFill>
                <a:latin typeface="Inter"/>
              </a:rPr>
              <a:t>Persistência cifrada em disco —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cada sessão também é gravada, cifrada (AES-256-GCM), em sessions.json — recarregada na inicialização do processo. Gravação best-effort (fire-and-forget).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1" i="0">
                <a:solidFill>
                  <a:srgbClr val="F4F4F5"/>
                </a:solidFill>
                <a:latin typeface="Inter"/>
              </a:rPr>
              <a:t>Por que não só memória —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o desenho original era só-memória; um restart durante desenvolvimento (nodemon, redeploy) derrubava todos os logados de uma vez, mesmo quem tinha “lembrar login” marcado.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1" i="0">
                <a:solidFill>
                  <a:srgbClr val="F4F4F5"/>
                </a:solidFill>
                <a:latin typeface="Inter"/>
              </a:rPr>
              <a:t>Recuperação reativa no cliente —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qualquer 401 força authenticatedFetch a chamar /api/session/me?reactive=1 e só então repete a chamada original, sem esperar o timer de 20 min.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325880"/>
            <a:ext cx="4510735" cy="2834640"/>
          </a:xfrm>
          <a:prstGeom prst="roundRect">
            <a:avLst>
              <a:gd name="adj" fmla="val 4000"/>
            </a:avLst>
          </a:prstGeom>
          <a:solidFill>
            <a:srgbClr val="0E0E11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109728" rIns="109728" wrap="square"/>
          <a:lstStyle/>
          <a:p>
            <a:pPr algn="ctr"/>
            <a:r>
              <a:rPr sz="1050" b="0" i="0">
                <a:solidFill>
                  <a:srgbClr val="84858D"/>
                </a:solidFill>
                <a:latin typeface="Consolas"/>
              </a:rPr>
              <a:t>SessionRecord (em memória)</a:t>
            </a:r>
          </a:p>
          <a:p>
            <a:pPr>
              <a:spcBef>
                <a:spcPts val="700"/>
              </a:spcBef>
            </a:pPr>
            <a:r>
              <a:rPr sz="1050" b="0" i="0">
                <a:solidFill>
                  <a:srgbClr val="5FB8FF"/>
                </a:solidFill>
                <a:latin typeface="Consolas"/>
              </a:rPr>
              <a:t>ra</a:t>
            </a:r>
          </a:p>
          <a:p>
            <a:pPr>
              <a:spcBef>
                <a:spcPts val="0"/>
              </a:spcBef>
            </a:pPr>
            <a:r>
              <a:rPr sz="950" b="0" i="0">
                <a:solidFill>
                  <a:srgbClr val="ADAEB6"/>
                </a:solidFill>
                <a:latin typeface="Inter"/>
              </a:rPr>
              <a:t>  chave de negócio</a:t>
            </a:r>
          </a:p>
          <a:p>
            <a:pPr>
              <a:spcBef>
                <a:spcPts val="700"/>
              </a:spcBef>
            </a:pPr>
            <a:r>
              <a:rPr sz="1050" b="0" i="0">
                <a:solidFill>
                  <a:srgbClr val="5FB8FF"/>
                </a:solidFill>
                <a:latin typeface="Consolas"/>
              </a:rPr>
              <a:t>passwordEnc</a:t>
            </a:r>
          </a:p>
          <a:p>
            <a:pPr>
              <a:spcBef>
                <a:spcPts val="0"/>
              </a:spcBef>
            </a:pPr>
            <a:r>
              <a:rPr sz="950" b="0" i="0">
                <a:solidFill>
                  <a:srgbClr val="ADAEB6"/>
                </a:solidFill>
                <a:latin typeface="Inter"/>
              </a:rPr>
              <a:t>  AES-256-GCM</a:t>
            </a:r>
          </a:p>
          <a:p>
            <a:pPr>
              <a:spcBef>
                <a:spcPts val="700"/>
              </a:spcBef>
            </a:pPr>
            <a:r>
              <a:rPr sz="1050" b="0" i="0">
                <a:solidFill>
                  <a:srgbClr val="5FB8FF"/>
                </a:solidFill>
                <a:latin typeface="Consolas"/>
              </a:rPr>
              <a:t>fefssid / fefssidchk</a:t>
            </a:r>
          </a:p>
          <a:p>
            <a:pPr>
              <a:spcBef>
                <a:spcPts val="0"/>
              </a:spcBef>
            </a:pPr>
            <a:r>
              <a:rPr sz="950" b="0" i="0">
                <a:solidFill>
                  <a:srgbClr val="ADAEB6"/>
                </a:solidFill>
                <a:latin typeface="Inter"/>
              </a:rPr>
              <a:t>  cookie da FEF</a:t>
            </a:r>
          </a:p>
          <a:p>
            <a:pPr>
              <a:spcBef>
                <a:spcPts val="700"/>
              </a:spcBef>
            </a:pPr>
            <a:r>
              <a:rPr sz="1050" b="0" i="0">
                <a:solidFill>
                  <a:srgbClr val="5FB8FF"/>
                </a:solidFill>
                <a:latin typeface="Consolas"/>
              </a:rPr>
              <a:t>fefssidIssuedAt</a:t>
            </a:r>
          </a:p>
          <a:p>
            <a:pPr>
              <a:spcBef>
                <a:spcPts val="0"/>
              </a:spcBef>
            </a:pPr>
            <a:r>
              <a:rPr sz="950" b="0" i="0">
                <a:solidFill>
                  <a:srgbClr val="ADAEB6"/>
                </a:solidFill>
                <a:latin typeface="Inter"/>
              </a:rPr>
              <a:t>  &gt; 20min → renova</a:t>
            </a:r>
          </a:p>
          <a:p>
            <a:pPr>
              <a:spcBef>
                <a:spcPts val="700"/>
              </a:spcBef>
            </a:pPr>
            <a:r>
              <a:rPr sz="1050" b="0" i="0">
                <a:solidFill>
                  <a:srgbClr val="5FB8FF"/>
                </a:solidFill>
                <a:latin typeface="Consolas"/>
              </a:rPr>
              <a:t>createdAt / lastUsedAt</a:t>
            </a:r>
          </a:p>
          <a:p>
            <a:pPr>
              <a:spcBef>
                <a:spcPts val="0"/>
              </a:spcBef>
            </a:pPr>
            <a:r>
              <a:rPr sz="950" b="0" i="0">
                <a:solidFill>
                  <a:srgbClr val="ADAEB6"/>
                </a:solidFill>
                <a:latin typeface="Inter"/>
              </a:rPr>
              <a:t>  auditoria interna</a:t>
            </a:r>
          </a:p>
          <a:p>
            <a:pPr>
              <a:spcBef>
                <a:spcPts val="700"/>
              </a:spcBef>
            </a:pPr>
            <a:r>
              <a:rPr sz="1050" b="0" i="0">
                <a:solidFill>
                  <a:srgbClr val="5FB8FF"/>
                </a:solidFill>
                <a:latin typeface="Consolas"/>
              </a:rPr>
              <a:t>expiresAt</a:t>
            </a:r>
          </a:p>
          <a:p>
            <a:pPr>
              <a:spcBef>
                <a:spcPts val="0"/>
              </a:spcBef>
            </a:pPr>
            <a:r>
              <a:rPr sz="950" b="0" i="0">
                <a:solidFill>
                  <a:srgbClr val="ADAEB6"/>
                </a:solidFill>
                <a:latin typeface="Inter"/>
              </a:rPr>
              <a:t>  TTL de 12h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4343400"/>
            <a:ext cx="4510735" cy="960120"/>
          </a:xfrm>
          <a:prstGeom prst="roundRect">
            <a:avLst>
              <a:gd name="adj" fmla="val 6000"/>
            </a:avLst>
          </a:prstGeom>
          <a:solidFill>
            <a:srgbClr val="133B38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tIns="91440"/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TTL 12h</a:t>
            </a:r>
          </a:p>
          <a:p>
            <a:pPr>
              <a:spcBef>
                <a:spcPts val="200"/>
              </a:spcBef>
            </a:pPr>
            <a:r>
              <a:rPr sz="1050" b="0" i="0">
                <a:solidFill>
                  <a:srgbClr val="ADAEB6"/>
                </a:solidFill>
                <a:latin typeface="Inter"/>
              </a:rPr>
              <a:t>varredura (sweep) a cada 5 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ROOMS, PRESENÇA E OS 22 EVENTOS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Tempo real —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Socket.IO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02920" y="2743200"/>
            <a:ext cx="1417320" cy="1417320"/>
          </a:xfrm>
          <a:prstGeom prst="ellipse">
            <a:avLst/>
          </a:prstGeom>
          <a:solidFill>
            <a:srgbClr val="133B38"/>
          </a:solidFill>
          <a:ln w="1587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 i="0">
                <a:solidFill>
                  <a:srgbClr val="20B2AA"/>
                </a:solidFill>
                <a:latin typeface="Inter"/>
              </a:rPr>
              <a:t>Socket.IO</a:t>
            </a:r>
          </a:p>
          <a:p>
            <a:pPr algn="ctr"/>
            <a:r>
              <a:rPr sz="1150" b="1" i="0">
                <a:solidFill>
                  <a:srgbClr val="20B2AA"/>
                </a:solidFill>
                <a:latin typeface="Inter"/>
              </a:rPr>
              <a:t>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1325880"/>
            <a:ext cx="4206240" cy="713232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ctr"/>
            <a:r>
              <a:rPr sz="1250" b="1" i="0">
                <a:solidFill>
                  <a:srgbClr val="F4F4F5"/>
                </a:solidFill>
                <a:latin typeface="Consolas"/>
              </a:rPr>
              <a:t>'Geral'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ADAEB6"/>
                </a:solidFill>
                <a:latin typeface="Inter"/>
              </a:rPr>
              <a:t>chat da comunidade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920240" y="1682496"/>
            <a:ext cx="182880" cy="1769364"/>
          </a:xfrm>
          <a:prstGeom prst="line">
            <a:avLst/>
          </a:prstGeom>
          <a:ln w="12700">
            <a:solidFill>
              <a:srgbClr val="20B2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03120" y="2148840"/>
            <a:ext cx="4206240" cy="713232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ctr"/>
            <a:r>
              <a:rPr sz="1250" b="1" i="0">
                <a:solidFill>
                  <a:srgbClr val="F4F4F5"/>
                </a:solidFill>
                <a:latin typeface="Consolas"/>
              </a:rPr>
              <a:t>curso do aluno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ADAEB6"/>
                </a:solidFill>
                <a:latin typeface="Inter"/>
              </a:rPr>
              <a:t>ex: Sistemas de Informação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920240" y="2505456"/>
            <a:ext cx="182880" cy="946404"/>
          </a:xfrm>
          <a:prstGeom prst="line">
            <a:avLst/>
          </a:prstGeom>
          <a:ln w="12700">
            <a:solidFill>
              <a:srgbClr val="20B2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103120" y="2971800"/>
            <a:ext cx="4206240" cy="713232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ctr"/>
            <a:r>
              <a:rPr sz="1250" b="1" i="0">
                <a:solidFill>
                  <a:srgbClr val="F4F4F5"/>
                </a:solidFill>
                <a:latin typeface="Consolas"/>
              </a:rPr>
              <a:t>dm_&lt;ra1&gt;_&lt;ra2&gt;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ADAEB6"/>
                </a:solidFill>
                <a:latin typeface="Inter"/>
              </a:rPr>
              <a:t>mensagens diretas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1920240" y="3328416"/>
            <a:ext cx="182880" cy="123444"/>
          </a:xfrm>
          <a:prstGeom prst="line">
            <a:avLst/>
          </a:prstGeom>
          <a:ln w="12700">
            <a:solidFill>
              <a:srgbClr val="20B2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103120" y="3794760"/>
            <a:ext cx="4206240" cy="713232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ctr"/>
            <a:r>
              <a:rPr sz="1250" b="1" i="0">
                <a:solidFill>
                  <a:srgbClr val="F4F4F5"/>
                </a:solidFill>
                <a:latin typeface="Consolas"/>
              </a:rPr>
              <a:t>ticket_&lt;id&gt;</a:t>
            </a:r>
          </a:p>
          <a:p>
            <a:pPr>
              <a:spcBef>
                <a:spcPts val="100"/>
              </a:spcBef>
            </a:pPr>
            <a:r>
              <a:rPr sz="1000" b="0" i="0">
                <a:solidFill>
                  <a:srgbClr val="ADAEB6"/>
                </a:solidFill>
                <a:latin typeface="Inter"/>
              </a:rPr>
              <a:t>suporte ao vivo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920240" y="3451860"/>
            <a:ext cx="182880" cy="699516"/>
          </a:xfrm>
          <a:prstGeom prst="line">
            <a:avLst/>
          </a:prstGeom>
          <a:ln w="12700">
            <a:solidFill>
              <a:srgbClr val="20B2A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537960" y="1325880"/>
            <a:ext cx="5150815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100" b="1" i="0">
                <a:solidFill>
                  <a:srgbClr val="F4F4F5"/>
                </a:solidFill>
                <a:latin typeface="Inter"/>
              </a:rPr>
              <a:t>Uma conexão por cliente — </a:t>
            </a:r>
            <a:r>
              <a:rPr sz="1100" b="0" i="0">
                <a:solidFill>
                  <a:srgbClr val="F4F4F5"/>
                </a:solidFill>
                <a:latin typeface="Inter"/>
              </a:rPr>
              <a:t>multiplexada em salas; join_room sempre sai de todas as anteriores antes de entrar na nova.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100" b="1" i="0">
                <a:solidFill>
                  <a:srgbClr val="F4F4F5"/>
                </a:solidFill>
                <a:latin typeface="Inter"/>
              </a:rPr>
              <a:t>Presença em Set/Map no processo — </a:t>
            </a:r>
            <a:r>
              <a:rPr sz="1100" b="0" i="0">
                <a:solidFill>
                  <a:srgbClr val="F4F4F5"/>
                </a:solidFill>
                <a:latin typeface="Inter"/>
              </a:rPr>
              <a:t>não persistida; recalculada a cada conexão/desconexão, ciente de múltiplas abas do mesmo RA.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100" b="1" i="0">
                <a:solidFill>
                  <a:srgbClr val="F4F4F5"/>
                </a:solidFill>
                <a:latin typeface="Inter"/>
              </a:rPr>
              <a:t>Autorização por sala reaplicada — </a:t>
            </a:r>
            <a:r>
              <a:rPr sz="1100" b="0" i="0">
                <a:solidFill>
                  <a:srgbClr val="F4F4F5"/>
                </a:solidFill>
                <a:latin typeface="Inter"/>
              </a:rPr>
              <a:t>as rotas HTTP de histórico reaplicam a mesma regra de acesso da sala; o socket não é a única barreira.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1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100" b="1" i="0">
                <a:solidFill>
                  <a:srgbClr val="F4F4F5"/>
                </a:solidFill>
                <a:latin typeface="Inter"/>
              </a:rPr>
              <a:t>Broadcasts globais (io.emit) — </a:t>
            </a:r>
            <a:r>
              <a:rPr sz="1100" b="0" i="0">
                <a:solidFill>
                  <a:srgbClr val="F4F4F5"/>
                </a:solidFill>
                <a:latin typeface="Inter"/>
              </a:rPr>
              <a:t>avisos administrativos, popups de sistema e confirmações de doação.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4297680"/>
            <a:ext cx="5150815" cy="960120"/>
          </a:xfrm>
          <a:prstGeom prst="roundRect">
            <a:avLst>
              <a:gd name="adj" fmla="val 6000"/>
            </a:avLst>
          </a:prstGeom>
          <a:solidFill>
            <a:srgbClr val="133B38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700" b="1" i="1">
                <a:solidFill>
                  <a:srgbClr val="FFFFFF"/>
                </a:solidFill>
                <a:latin typeface="Inter"/>
              </a:rPr>
              <a:t>22 eventos</a:t>
            </a:r>
            <a:r>
              <a:rPr sz="1300" b="0" i="0">
                <a:solidFill>
                  <a:srgbClr val="ADAEB6"/>
                </a:solidFill>
                <a:latin typeface="Inter"/>
              </a:rPr>
              <a:t> Socket.IO ao todo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A SUPERFÍCIE DA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1">
                <a:solidFill>
                  <a:srgbClr val="FFFFFF"/>
                </a:solidFill>
                <a:latin typeface="Inter"/>
              </a:rPr>
              <a:t>Mapa de API — </a:t>
            </a:r>
            <a:r>
              <a:rPr sz="2600" b="1" i="1">
                <a:solidFill>
                  <a:srgbClr val="20B2AA"/>
                </a:solidFill>
                <a:latin typeface="Inter"/>
              </a:rPr>
              <a:t>os 80, por domínio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14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5855" cy="43113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31720"/>
                <a:gridCol w="640080"/>
                <a:gridCol w="1965960"/>
                <a:gridCol w="624809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Domínio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Rotas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Autorização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Propósito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Autenticação e sessão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Pública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Login real, convidado, logout, checagem de sessão, recuperação de senha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Acadêmico (ao vivo)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16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Sessão (implícita)*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Boletim, horário, calendário, matriz, atividades, NUPEX, Classroom, dashboard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Financeiro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Sessão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Boletos, PIX dinâmico, confirmação de pagamento, emissão de PDF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Portal institucional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Pública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Notícias, cursos, páginas institucionais — espelho do que já é público na FEF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Comunidade e social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Sessão / dono-ou-admin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Chat, diretório de estudantes, conversas diretas, perfil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Produtividade pessoal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Dono ou admin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Kanban de tarefas e lembretes por RA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Conta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Sessão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Exclusão/anonimização de dados a pedido do titular (LGPD)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Avisos e gestão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Admin (leitura: sessão)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Mural de comunicados, gestão de administradores, popups de sistema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Suporte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Dono ou admin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Central de atendimento — histórico via HTTP, conversa ao vivo via socket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Sugestões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9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Sessão (moderação: admin)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Mural de ideias com votação e comentários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Doações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Pública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Doações voluntárias via PIX (InfinitePay), ranking de apoiadores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Atlética / Classroom / Loja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Pública (escrita: admin)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Loja e agenda da atlética, feed de materiais do Classroom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Infra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20B2A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Sessão / pública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Proxy de foto de perfil e healthcheck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747004"/>
            <a:ext cx="11185855" cy="411480"/>
          </a:xfrm>
          <a:prstGeom prst="roundRect">
            <a:avLst>
              <a:gd name="adj" fmla="val 15000"/>
            </a:avLst>
          </a:prstGeom>
          <a:solidFill>
            <a:srgbClr val="133B38"/>
          </a:solidFill>
          <a:ln w="9525">
            <a:solidFill>
              <a:srgbClr val="20B2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250" b="1" i="0">
                <a:solidFill>
                  <a:srgbClr val="FFFFFF"/>
                </a:solidFill>
                <a:latin typeface="Inter"/>
              </a:rPr>
              <a:t>80 rotas HTTP + 22 eventos Socket.IO </a:t>
            </a:r>
            <a:r>
              <a:rPr sz="1250" b="0" i="1">
                <a:solidFill>
                  <a:srgbClr val="ADAEB6"/>
                </a:solidFill>
                <a:latin typeface="Inter"/>
              </a:rPr>
              <a:t>— nenhuma delas devolve HTML bruto do portal ao cliente.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O RA VEM DA SESSÃO, NUNCA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O padrão de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autorização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15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325880"/>
            <a:ext cx="6675120" cy="4160520"/>
          </a:xfrm>
          <a:prstGeom prst="roundRect">
            <a:avLst>
              <a:gd name="adj" fmla="val 3000"/>
            </a:avLst>
          </a:prstGeom>
          <a:solidFill>
            <a:srgbClr val="0E0E11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 rIns="109728" wrap="square"/>
          <a:lstStyle/>
          <a:p>
            <a:pPr algn="ctr">
              <a:spcAft>
                <a:spcPts val="100"/>
              </a:spcAft>
            </a:pPr>
            <a:r>
              <a:rPr sz="1080" b="0" i="0">
                <a:solidFill>
                  <a:srgbClr val="ADAEB6"/>
                </a:solidFill>
                <a:latin typeface="Consolas"/>
              </a:rPr>
              <a:t>const getAuthRa = (req) =&gt; req.fefSession?.ra || null;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ADAEB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080" b="0" i="1">
                <a:solidFill>
                  <a:srgbClr val="84858D"/>
                </a:solidFill>
                <a:latin typeface="Consolas"/>
              </a:rPr>
              <a:t>// Rejeita a menos que exista sessão válida.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5FB8FF"/>
                </a:solidFill>
                <a:latin typeface="Consolas"/>
              </a:rPr>
              <a:t>const requireAuth = (req, res, next) =&gt; {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F4F4F5"/>
                </a:solidFill>
                <a:latin typeface="Consolas"/>
              </a:rPr>
              <a:t>  const ra = getAuthRa(req);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F4F4F5"/>
                </a:solidFill>
                <a:latin typeface="Consolas"/>
              </a:rPr>
              <a:t>  if (!ra) return res.status(401).json({ error: '...' });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F4F4F5"/>
                </a:solidFill>
                <a:latin typeface="Consolas"/>
              </a:rPr>
              <a:t>  req.authRa = ra; next();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5FB8FF"/>
                </a:solidFill>
                <a:latin typeface="Consolas"/>
              </a:rPr>
              <a:t>};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ADAEB6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080" b="0" i="1">
                <a:solidFill>
                  <a:srgbClr val="84858D"/>
                </a:solidFill>
                <a:latin typeface="Consolas"/>
              </a:rPr>
              <a:t>// RA precisa ser dono do recurso OU admin.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5FB8FF"/>
                </a:solidFill>
                <a:latin typeface="Consolas"/>
              </a:rPr>
              <a:t>const requireOwnRaOrAdmin = (extractTargetRa) =&gt; (req, res, next) =&gt; {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F4F4F5"/>
                </a:solidFill>
                <a:latin typeface="Consolas"/>
              </a:rPr>
              <a:t>  const ra = getAuthRa(req);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F4F4F5"/>
                </a:solidFill>
                <a:latin typeface="Consolas"/>
              </a:rPr>
              <a:t>  const targetRa = extractTargetRa(req);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F4F4F5"/>
                </a:solidFill>
                <a:latin typeface="Consolas"/>
              </a:rPr>
              <a:t>  if (!ra || !targetRa ||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F4F4F5"/>
                </a:solidFill>
                <a:latin typeface="Consolas"/>
              </a:rPr>
              <a:t>      (ra !== String(targetRa) &amp;&amp; !ADMIN_RAS.includes(ra))) {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F4F4F5"/>
                </a:solidFill>
                <a:latin typeface="Consolas"/>
              </a:rPr>
              <a:t>    return res.status(403).json({ error: 'Acesso negado' });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F4F4F5"/>
                </a:solidFill>
                <a:latin typeface="Consolas"/>
              </a:rPr>
              <a:t>  }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F4F4F5"/>
                </a:solidFill>
                <a:latin typeface="Consolas"/>
              </a:rPr>
              <a:t>  req.authRa = ra; next();</a:t>
            </a:r>
          </a:p>
          <a:p>
            <a:pPr>
              <a:spcAft>
                <a:spcPts val="100"/>
              </a:spcAft>
            </a:pPr>
            <a:r>
              <a:rPr sz="1080" b="0" i="0">
                <a:solidFill>
                  <a:srgbClr val="5FB8FF"/>
                </a:solidFill>
                <a:latin typeface="Consolas"/>
              </a:rPr>
              <a:t>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325880"/>
            <a:ext cx="460217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150" b="1" i="0">
                <a:solidFill>
                  <a:srgbClr val="F4F4F5"/>
                </a:solidFill>
                <a:latin typeface="Inter"/>
              </a:rPr>
              <a:t>Nunca req.body.ra / req.query.ra — </a:t>
            </a:r>
            <a:r>
              <a:rPr sz="1150" b="0" i="0">
                <a:solidFill>
                  <a:srgbClr val="F4F4F5"/>
                </a:solidFill>
                <a:latin typeface="Inter"/>
              </a:rPr>
              <a:t>toda rota/handler que lê ou altera dado por RA usa o RA derivado do cookie de sessão.</a:t>
            </a:r>
          </a:p>
          <a:p>
            <a:pPr>
              <a:lnSpc>
                <a:spcPct val="110000"/>
              </a:lnSpc>
              <a:spcAft>
                <a:spcPts val="1000"/>
              </a:spcAft>
            </a:pPr>
            <a:r>
              <a:rPr sz="11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150" b="1" i="0">
                <a:solidFill>
                  <a:srgbClr val="F4F4F5"/>
                </a:solidFill>
                <a:latin typeface="Inter"/>
              </a:rPr>
              <a:t>Mesmo princípio no Socket.IO — </a:t>
            </a:r>
            <a:r>
              <a:rPr sz="1150" b="0" i="0">
                <a:solidFill>
                  <a:srgbClr val="F4F4F5"/>
                </a:solidFill>
                <a:latin typeface="Inter"/>
              </a:rPr>
              <a:t>socket.authRa é resolvido uma vez, na conexão, a partir do cookie do handshake — nunca de um campo do payload.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926080"/>
            <a:ext cx="4602175" cy="566928"/>
          </a:xfrm>
          <a:prstGeom prst="roundRect">
            <a:avLst>
              <a:gd name="adj" fmla="val 10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800" b="1" i="1">
                <a:solidFill>
                  <a:srgbClr val="20B2AA"/>
                </a:solidFill>
                <a:latin typeface="Inter"/>
              </a:rPr>
              <a:t>26  </a:t>
            </a:r>
            <a:r>
              <a:rPr sz="1050" b="0" i="0">
                <a:solidFill>
                  <a:srgbClr val="ADAEB6"/>
                </a:solidFill>
                <a:latin typeface="Inter"/>
              </a:rPr>
              <a:t>rotas requireAuth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3584448"/>
            <a:ext cx="4602175" cy="566928"/>
          </a:xfrm>
          <a:prstGeom prst="roundRect">
            <a:avLst>
              <a:gd name="adj" fmla="val 10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800" b="1" i="1">
                <a:solidFill>
                  <a:srgbClr val="20B2AA"/>
                </a:solidFill>
                <a:latin typeface="Inter"/>
              </a:rPr>
              <a:t>9  </a:t>
            </a:r>
            <a:r>
              <a:rPr sz="1050" b="0" i="0">
                <a:solidFill>
                  <a:srgbClr val="ADAEB6"/>
                </a:solidFill>
                <a:latin typeface="Inter"/>
              </a:rPr>
              <a:t>rotas requireAdmin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86600" y="4242816"/>
            <a:ext cx="4602175" cy="566928"/>
          </a:xfrm>
          <a:prstGeom prst="roundRect">
            <a:avLst>
              <a:gd name="adj" fmla="val 10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800" b="1" i="1">
                <a:solidFill>
                  <a:srgbClr val="20B2AA"/>
                </a:solidFill>
                <a:latin typeface="Inter"/>
              </a:rPr>
              <a:t>5  </a:t>
            </a:r>
            <a:r>
              <a:rPr sz="1050" b="0" i="0">
                <a:solidFill>
                  <a:srgbClr val="ADAEB6"/>
                </a:solidFill>
                <a:latin typeface="Inter"/>
              </a:rPr>
              <a:t>dono-ou-admin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4901184"/>
            <a:ext cx="4602175" cy="566928"/>
          </a:xfrm>
          <a:prstGeom prst="roundRect">
            <a:avLst>
              <a:gd name="adj" fmla="val 10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/>
          <a:lstStyle/>
          <a:p>
            <a:pPr algn="ctr"/>
            <a:r>
              <a:rPr sz="1800" b="1" i="1">
                <a:solidFill>
                  <a:srgbClr val="20B2AA"/>
                </a:solidFill>
                <a:latin typeface="Inter"/>
              </a:rPr>
              <a:t>25  </a:t>
            </a:r>
            <a:r>
              <a:rPr sz="1050" b="0" i="0">
                <a:solidFill>
                  <a:srgbClr val="ADAEB6"/>
                </a:solidFill>
                <a:latin typeface="Inter"/>
              </a:rPr>
              <a:t>usos de socket.authRa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POSTURA DE SEGURANÇA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1">
                <a:solidFill>
                  <a:srgbClr val="20B2AA"/>
                </a:solidFill>
                <a:latin typeface="Inter"/>
              </a:rPr>
              <a:t>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16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5855" cy="419709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108960"/>
                <a:gridCol w="807689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Controle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Implementação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Rate limiting de login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10 tentativas / 15 min por IP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Rate limiting geral de API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300 requisições / min por IP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Cookie de sessão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httpOnly, SameSite=Lax, Secure em produção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Segredo em repouso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Senha institucional cifrada AES-256-GCM; chave nunca gravada, derivada em runtime de SESSION_SECRET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Persistência de sessão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Memória (acesso) + backup cifrado em disco (AES-256-GCM, sobrevive a restart); TTL 12h, varredura a cada 5 min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Modo convidado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Totalmente isolado: usuário fictício client-side, sem cookie de sessão real, sem acesso à FEF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Auditoria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Cada login grava {timestamp, ra, ip, localização, dispositivo, navegador, SO} — nunca a senha — sobrescrito a cada novo login do mesmo RA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Exposição de credenciais da FEF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Cliente nunca recebe FEFSSID/FEFSSIDCHK; até a foto de perfil passa por proxy (/api/proxy/photo)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Autorização por identidade de sessão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Toda rota que lê/altera dado por RA usa o RA derivado do cookie de sessão, nunca um campo do corpo/query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ALINHAMENTO COM OS PRINCÍPIOS (ART. 6º)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1">
                <a:solidFill>
                  <a:srgbClr val="20B2AA"/>
                </a:solidFill>
                <a:latin typeface="Inter"/>
              </a:rPr>
              <a:t>LGPD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17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5855" cy="37307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51760"/>
                <a:gridCol w="8534095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Princípio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Como se reflete na implementação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Finalidade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Cada dado tratado tem uso explícito e único: a senha só autentica; o IP/dispositivo só serve à auditoria de login.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Necessidade / minimização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Notas, frequência, boletos e horários nunca são persistidos — buscados ao vivo e descartados após a resposta. A auditoria guarda só o último acesso por RA.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Segurança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Senha institucional cifrada em repouso (AES-256-GCM), cookie de sessão httpOnly/SameSite, rate limiting contra força bruta.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Prevenção e não retenção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Sessão com TTL curto e varredura periódica; o backup em disco existe só para sobreviver a um restart, cifrado por inteiro — nunca em texto puro.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Transparência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ARCHITECTURE.md e o README descrevem publicamente, em detalhe, como os dados são tratados.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4F4F5"/>
                          </a:solidFill>
                          <a:latin typeface="Inter"/>
                        </a:rPr>
                        <a:t>Livre acesso e eliminação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ADAEB6"/>
                          </a:solidFill>
                          <a:latin typeface="Inter"/>
                        </a:rPr>
                        <a:t>Self-service via DELETE /api/account: apaga perfil/tarefas/lembretes/histórico; anonimiza chat/comentários/doações — art. 16 da LGPD.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DELETE /API/ACCOUNT E QUEM CONTROLA O QUÊ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 i="1">
                <a:solidFill>
                  <a:srgbClr val="FFFFFF"/>
                </a:solidFill>
                <a:latin typeface="Inter"/>
              </a:rPr>
              <a:t>Exclusão de conta </a:t>
            </a:r>
            <a:r>
              <a:rPr sz="2500" b="1" i="1">
                <a:solidFill>
                  <a:srgbClr val="20B2AA"/>
                </a:solidFill>
                <a:latin typeface="Inter"/>
              </a:rPr>
              <a:t>self-service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18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325880"/>
            <a:ext cx="5410047" cy="4206240"/>
          </a:xfrm>
          <a:prstGeom prst="roundRect">
            <a:avLst>
              <a:gd name="adj" fmla="val 4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182880" wrap="square"/>
          <a:lstStyle/>
          <a:p>
            <a:pPr algn="ctr"/>
            <a:r>
              <a:rPr sz="1400" b="1" i="0">
                <a:solidFill>
                  <a:srgbClr val="20B2AA"/>
                </a:solidFill>
                <a:latin typeface="Consolas"/>
              </a:rPr>
              <a:t>DELETE /api/account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3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00" b="1" i="0">
                <a:solidFill>
                  <a:srgbClr val="F4F4F5"/>
                </a:solidFill>
                <a:latin typeface="Inter"/>
              </a:rPr>
              <a:t>Apaga de fato — </a:t>
            </a:r>
            <a:r>
              <a:rPr sz="1300" b="0" i="0">
                <a:solidFill>
                  <a:srgbClr val="ADAEB6"/>
                </a:solidFill>
                <a:latin typeface="Inter"/>
              </a:rPr>
              <a:t>perfil, tarefas, lembretes e histórico de pagamentos/login do RA.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3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00" b="1" i="0">
                <a:solidFill>
                  <a:srgbClr val="F4F4F5"/>
                </a:solidFill>
                <a:latin typeface="Inter"/>
              </a:rPr>
              <a:t>Anonimiza (não apaga) — </a:t>
            </a:r>
            <a:r>
              <a:rPr sz="1300" b="0" i="0">
                <a:solidFill>
                  <a:srgbClr val="ADAEB6"/>
                </a:solidFill>
                <a:latin typeface="Inter"/>
              </a:rPr>
              <a:t>mensagens de chat, comentários públicos e histórico de doações — porque apagar de verdade quebraria conversas e totais que outras pessoas ainda enxergam.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3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00" b="1" i="0">
                <a:solidFill>
                  <a:srgbClr val="F4F4F5"/>
                </a:solidFill>
                <a:latin typeface="Inter"/>
              </a:rPr>
              <a:t>Respaldo legal — </a:t>
            </a:r>
            <a:r>
              <a:rPr sz="1300" b="0" i="0">
                <a:solidFill>
                  <a:srgbClr val="ADAEB6"/>
                </a:solidFill>
                <a:latin typeface="Inter"/>
              </a:rPr>
              <a:t>art. 16 da LGPD permite anonimização quando a exclusão integral prejudica interesse legítimo de terceiros.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325880"/>
            <a:ext cx="5410047" cy="4206240"/>
          </a:xfrm>
          <a:prstGeom prst="roundRect">
            <a:avLst>
              <a:gd name="adj" fmla="val 4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182880" tIns="182880" wrap="square"/>
          <a:lstStyle/>
          <a:p>
            <a:pPr algn="ctr"/>
            <a:r>
              <a:rPr sz="1400" b="1" i="1">
                <a:solidFill>
                  <a:srgbClr val="20B2AA"/>
                </a:solidFill>
                <a:latin typeface="Inter"/>
              </a:rPr>
              <a:t>Quem é controlador de quê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3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00" b="1" i="0">
                <a:solidFill>
                  <a:srgbClr val="F4F4F5"/>
                </a:solidFill>
                <a:latin typeface="Inter"/>
              </a:rPr>
              <a:t>FEF — </a:t>
            </a:r>
            <a:r>
              <a:rPr sz="1300" b="0" i="0">
                <a:solidFill>
                  <a:srgbClr val="ADAEB6"/>
                </a:solidFill>
                <a:latin typeface="Inter"/>
              </a:rPr>
              <a:t>controladora do registro acadêmico oficial (notas, frequência, matrícula); mantém seu próprio Encarregado de Dados (lgpd@fef.edu.br).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3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00" b="1" i="0">
                <a:solidFill>
                  <a:srgbClr val="F4F4F5"/>
                </a:solidFill>
                <a:latin typeface="Inter"/>
              </a:rPr>
              <a:t>Sistemáticos — </a:t>
            </a:r>
            <a:r>
              <a:rPr sz="1300" b="0" i="0">
                <a:solidFill>
                  <a:srgbClr val="ADAEB6"/>
                </a:solidFill>
                <a:latin typeface="Inter"/>
              </a:rPr>
              <a:t>não assume esse papel: apenas intermedeia, a pedido do titular, o acesso a dados que já existem na FEF; trata localmente só o que é gerado pelo uso da própria plataforma (sessão, chat, tarefas).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3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00" b="1" i="0">
                <a:solidFill>
                  <a:srgbClr val="F4F4F5"/>
                </a:solidFill>
                <a:latin typeface="Inter"/>
              </a:rPr>
              <a:t>Documentos formais — </a:t>
            </a:r>
            <a:r>
              <a:rPr sz="1300" b="0" i="0">
                <a:solidFill>
                  <a:srgbClr val="ADAEB6"/>
                </a:solidFill>
                <a:latin typeface="Inter"/>
              </a:rPr>
              <a:t>a plataforma mantém Política de Privacidade e Termos de Uso próprios (/privacidade, /termos), apresentados no banner de cookies no primeiro acesso.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TRADE-OFFS REAIS — 1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Decisões de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19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5855" cy="37856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06040"/>
                <a:gridCol w="2514600"/>
                <a:gridCol w="6065215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Decisão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Alternativa considerada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Por que essa escolha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Sessão em Map na memória, com backup cifrado em JSON local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Redis / banco relacional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Sessão é barata de recriar, mas descartá-la a cada restart se provou custoso na prática — um backup cifrado local resolve isso sem a complexidade operacional de um serviço externo, para um projeto mantido por uma pessoa só.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Um processo Node servindo API + WS + SPA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Frontend e backend em hosts/serviços separados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Simplicidade operacional para um projeto mantido por uma pessoa só, sem equipe de infra.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Arquivos JSON como “banco” local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SQLite / Postgres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O volume de dados próprios (chat, tarefas, avisos) é pequeno e não relacional; não há necessidade de um motor de banco para isso.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4F4F5"/>
                          </a:solidFill>
                          <a:latin typeface="Inter"/>
                        </a:rPr>
                        <a:t>Scraping ao vivo em vez de espelhar os dados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Sincronizar e cachear notas/frequência em banco próprio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ADAEB6"/>
                          </a:solidFill>
                          <a:latin typeface="Inter"/>
                        </a:rPr>
                        <a:t>Qualquer cache correria risco de ficar desatualizado ou divergir do portal oficial — a fonte da verdade é sempre a FEF.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TRADE-OFFS REAIS — 2 DE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Decisões de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arquitetura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20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85855" cy="346557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06040"/>
                <a:gridCol w="2514600"/>
                <a:gridCol w="6065215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Decisão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Alternativa considerada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 spc="100">
                          <a:solidFill>
                            <a:srgbClr val="20B2AA"/>
                          </a:solidFill>
                          <a:latin typeface="Consolas"/>
                        </a:rPr>
                        <a:t>Por que essa escolha</a:t>
                      </a:r>
                    </a:p>
                  </a:txBody>
                  <a:tcPr marL="73152" marR="73152" marT="18288" marB="18288" anchor="ctr">
                    <a:solidFill>
                      <a:srgbClr val="1B1B20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4F5"/>
                          </a:solidFill>
                          <a:latin typeface="Inter"/>
                        </a:rPr>
                        <a:t>Modo convidado 100% client-side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ADAEB6"/>
                          </a:solidFill>
                          <a:latin typeface="Inter"/>
                        </a:rPr>
                        <a:t>Convidado com sessão real no servidor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ADAEB6"/>
                          </a:solidFill>
                          <a:latin typeface="Inter"/>
                        </a:rPr>
                        <a:t>Não há necessidade de tocar a FEF para dar um preview da interface a quem ainda não é aluno.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4F5"/>
                          </a:solidFill>
                          <a:latin typeface="Inter"/>
                        </a:rPr>
                        <a:t>Calculadoras do Hub/Ferramentas rodam sobre dados já buscados (/api/boletim)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ADAEB6"/>
                          </a:solidFill>
                          <a:latin typeface="Inter"/>
                        </a:rPr>
                        <a:t>Rota de API dedicada para cada simulação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ADAEB6"/>
                          </a:solidFill>
                          <a:latin typeface="Inter"/>
                        </a:rPr>
                        <a:t>Simulador de médias e gerador de capa ABNT são só matemática/template em cima do que a tela já carregou — criar uma rota nova por ferramenta seria superfície de API sem necessidade real.</a:t>
                      </a:r>
                    </a:p>
                  </a:txBody>
                  <a:tcPr marL="73152" marR="73152" marT="18288" marB="18288" anchor="ctr">
                    <a:solidFill>
                      <a:srgbClr val="151519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4F4F5"/>
                          </a:solidFill>
                          <a:latin typeface="Inter"/>
                        </a:rPr>
                        <a:t>Doações via link de checkout de terceiro (InfinitePay)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ADAEB6"/>
                          </a:solidFill>
                          <a:latin typeface="Inter"/>
                        </a:rPr>
                        <a:t>Processar cartão/PIX diretamente no servidor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ADAEB6"/>
                          </a:solidFill>
                          <a:latin typeface="Inter"/>
                        </a:rPr>
                        <a:t>O Sistemáticos nunca vê nem guarda dado de pagamento — o servidor só cria o link e escuta o webhook, o que também mantém o projeto fora do escopo de conformidade de meios de pagamento.</a:t>
                      </a:r>
                    </a:p>
                  </a:txBody>
                  <a:tcPr marL="73152" marR="73152" marT="18288" marB="18288" anchor="ctr">
                    <a:solidFill>
                      <a:srgbClr val="0E0E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FRONTEND, BACKEND E SESSÃO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Stack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técnica completa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21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325880"/>
            <a:ext cx="3545738" cy="4114800"/>
          </a:xfrm>
          <a:prstGeom prst="roundRect">
            <a:avLst>
              <a:gd name="adj" fmla="val 4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46304" tIns="182880" wrap="square"/>
          <a:lstStyle/>
          <a:p>
            <a:pPr algn="ctr"/>
            <a:r>
              <a:rPr sz="1300" b="1" i="0" spc="100">
                <a:solidFill>
                  <a:srgbClr val="20B2AA"/>
                </a:solidFill>
                <a:latin typeface="Consolas"/>
              </a:rPr>
              <a:t>FRONTEND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React 19 + TypeScript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Vite 6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Tailwind CSS v4 + shadcn/ui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Framer Motion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PWA (Workbox / vite-plugin-pwa)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1325880"/>
            <a:ext cx="3545738" cy="4114800"/>
          </a:xfrm>
          <a:prstGeom prst="roundRect">
            <a:avLst>
              <a:gd name="adj" fmla="val 4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46304" tIns="182880" wrap="square"/>
          <a:lstStyle/>
          <a:p>
            <a:pPr algn="ctr"/>
            <a:r>
              <a:rPr sz="1300" b="1" i="0" spc="100">
                <a:solidFill>
                  <a:srgbClr val="20B2AA"/>
                </a:solidFill>
                <a:latin typeface="Consolas"/>
              </a:rPr>
              <a:t>BACKEND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Node.js + Express 5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Socket.IO (tempo real, multiplexado em salas)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Cheerio (parsing / sincronização)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Bundle: manualChunks separa recharts, jspdf/xlsx e framer-motion/lucide-react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3036" y="1325880"/>
            <a:ext cx="3545738" cy="4114800"/>
          </a:xfrm>
          <a:prstGeom prst="roundRect">
            <a:avLst>
              <a:gd name="adj" fmla="val 4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46304" tIns="182880" wrap="square"/>
          <a:lstStyle/>
          <a:p>
            <a:pPr algn="ctr"/>
            <a:r>
              <a:rPr sz="1300" b="1" i="0" spc="100">
                <a:solidFill>
                  <a:srgbClr val="20B2AA"/>
                </a:solidFill>
                <a:latin typeface="Consolas"/>
              </a:rPr>
              <a:t>SESSÃO E SEGURANÇA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Cookies httpOnly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Sessão criptografada AES-256-GCM (memória + backup em disco)</a:t>
            </a:r>
          </a:p>
          <a:p>
            <a:pPr>
              <a:lnSpc>
                <a:spcPct val="115000"/>
              </a:lnSpc>
              <a:spcBef>
                <a:spcPts val="14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200" b="0" i="0">
                <a:solidFill>
                  <a:srgbClr val="F4F4F5"/>
                </a:solidFill>
                <a:latin typeface="Inter"/>
              </a:rPr>
              <a:t>RA sempre resolvido a partir da sessão — nunca de um campo enviado pelo cliente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INTERFACE REAL —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Capturas de tela —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Desktop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22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678348"/>
            <a:ext cx="3545738" cy="1729904"/>
          </a:xfrm>
          <a:prstGeom prst="rect">
            <a:avLst/>
          </a:prstGeom>
          <a:ln w="12700">
            <a:solidFill>
              <a:srgbClr val="2A2A3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815584"/>
            <a:ext cx="3545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DAEB6"/>
                </a:solidFill>
                <a:latin typeface="Consolas"/>
              </a:rPr>
              <a:t>Login</a:t>
            </a:r>
          </a:p>
        </p:txBody>
      </p:sp>
      <p:pic>
        <p:nvPicPr>
          <p:cNvPr id="10" name="Picture 9" descr="02-dashboard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78" y="2678348"/>
            <a:ext cx="3545738" cy="1729904"/>
          </a:xfrm>
          <a:prstGeom prst="rect">
            <a:avLst/>
          </a:prstGeom>
          <a:ln w="12700">
            <a:solidFill>
              <a:srgbClr val="2A2A3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322978" y="5815584"/>
            <a:ext cx="3545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DAEB6"/>
                </a:solidFill>
                <a:latin typeface="Consolas"/>
              </a:rPr>
              <a:t>Dashboard — tema escuro</a:t>
            </a:r>
          </a:p>
        </p:txBody>
      </p:sp>
      <p:pic>
        <p:nvPicPr>
          <p:cNvPr id="12" name="Picture 11" descr="03-dashboard-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3036" y="2678348"/>
            <a:ext cx="3545738" cy="1729904"/>
          </a:xfrm>
          <a:prstGeom prst="rect">
            <a:avLst/>
          </a:prstGeom>
          <a:ln w="12700">
            <a:solidFill>
              <a:srgbClr val="2A2A3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143036" y="5815584"/>
            <a:ext cx="3545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DAEB6"/>
                </a:solidFill>
                <a:latin typeface="Consolas"/>
              </a:rPr>
              <a:t>Dashboard — tema claro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INTERFACE REAL —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Boletim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e 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23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04-boleti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12413"/>
            <a:ext cx="5455767" cy="2661774"/>
          </a:xfrm>
          <a:prstGeom prst="rect">
            <a:avLst/>
          </a:prstGeom>
          <a:ln w="12700">
            <a:solidFill>
              <a:srgbClr val="2A2A3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815584"/>
            <a:ext cx="5455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DAEB6"/>
                </a:solidFill>
                <a:latin typeface="Consolas"/>
              </a:rPr>
              <a:t>Boletim acadêmico — simulador de aprovação</a:t>
            </a:r>
          </a:p>
        </p:txBody>
      </p:sp>
      <p:pic>
        <p:nvPicPr>
          <p:cNvPr id="10" name="Picture 9" descr="05-mensal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12413"/>
            <a:ext cx="5455767" cy="2661774"/>
          </a:xfrm>
          <a:prstGeom prst="rect">
            <a:avLst/>
          </a:prstGeom>
          <a:ln w="12700">
            <a:solidFill>
              <a:srgbClr val="2A2A3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33007" y="5815584"/>
            <a:ext cx="545576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DAEB6"/>
                </a:solidFill>
                <a:latin typeface="Consolas"/>
              </a:rPr>
              <a:t>Central de pagamentos — PIX dinâmico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6144768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100" b="0" i="1">
                <a:solidFill>
                  <a:srgbClr val="ADAEB6"/>
                </a:solidFill>
                <a:latin typeface="Inter"/>
              </a:rPr>
              <a:t>Valores financeiros borrados propositalmente nesta captura — dado real de um aluno, mesmo sendo o autor.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INTERFACE REAL —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Capturas de tela —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Mobile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24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06-mobile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35" y="1325880"/>
            <a:ext cx="2960507" cy="4434840"/>
          </a:xfrm>
          <a:prstGeom prst="rect">
            <a:avLst/>
          </a:prstGeom>
          <a:ln w="12700">
            <a:solidFill>
              <a:srgbClr val="2A2A3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502920" y="5815584"/>
            <a:ext cx="3545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DAEB6"/>
                </a:solidFill>
                <a:latin typeface="Consolas"/>
              </a:rPr>
              <a:t>Login</a:t>
            </a:r>
          </a:p>
        </p:txBody>
      </p:sp>
      <p:pic>
        <p:nvPicPr>
          <p:cNvPr id="10" name="Picture 9" descr="07-mobile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593" y="1325880"/>
            <a:ext cx="2960507" cy="4434840"/>
          </a:xfrm>
          <a:prstGeom prst="rect">
            <a:avLst/>
          </a:prstGeom>
          <a:ln w="12700">
            <a:solidFill>
              <a:srgbClr val="2A2A3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322978" y="5815584"/>
            <a:ext cx="3545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DAEB6"/>
                </a:solidFill>
                <a:latin typeface="Consolas"/>
              </a:rPr>
              <a:t>Dashboard</a:t>
            </a:r>
          </a:p>
        </p:txBody>
      </p:sp>
      <p:pic>
        <p:nvPicPr>
          <p:cNvPr id="12" name="Picture 11" descr="08-mobile-bolet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651" y="1325880"/>
            <a:ext cx="2960507" cy="4434840"/>
          </a:xfrm>
          <a:prstGeom prst="rect">
            <a:avLst/>
          </a:prstGeom>
          <a:ln w="12700">
            <a:solidFill>
              <a:srgbClr val="2A2A3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8143036" y="5815584"/>
            <a:ext cx="354573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ADAEB6"/>
                </a:solidFill>
                <a:latin typeface="Consolas"/>
              </a:rPr>
              <a:t>Boletim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6144768"/>
            <a:ext cx="11185855" cy="45720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/>
            <a:r>
              <a:rPr sz="1100" b="0" i="1">
                <a:solidFill>
                  <a:srgbClr val="ADAEB6"/>
                </a:solidFill>
                <a:latin typeface="Inter"/>
              </a:rPr>
              <a:t>A sidebar desktop vira navegação inferior (bottom nav) no celular — não é a mesma interface encolhida, é outro layout, pensado para uso de uma mão.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TRABALHO TÉCNICO VERIFICADO NESTA SESSÃO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Rigor de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engenharia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25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325880"/>
            <a:ext cx="11185855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3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50" b="1" i="0">
                <a:solidFill>
                  <a:srgbClr val="F4F4F5"/>
                </a:solidFill>
                <a:latin typeface="Inter"/>
              </a:rPr>
              <a:t>Sessão persistente entre restarts — </a:t>
            </a:r>
            <a:r>
              <a:rPr sz="1350" b="0" i="0">
                <a:solidFill>
                  <a:srgbClr val="F4F4F5"/>
                </a:solidFill>
                <a:latin typeface="Inter"/>
              </a:rPr>
              <a:t>motivo real: nodemon/redeploy derrubava todos os alunos logados de uma vez; implementado backup cifrado (AES-256-GCM) em disco.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3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50" b="1" i="0">
                <a:solidFill>
                  <a:srgbClr val="F4F4F5"/>
                </a:solidFill>
                <a:latin typeface="Inter"/>
              </a:rPr>
              <a:t>Hardening de autorização, com números reais — </a:t>
            </a:r>
            <a:r>
              <a:rPr sz="1350" b="0" i="0">
                <a:solidFill>
                  <a:srgbClr val="F4F4F5"/>
                </a:solidFill>
                <a:latin typeface="Inter"/>
              </a:rPr>
              <a:t>26 rotas requireAuth, 9 requireAdmin, 5 requireOwnRaOrAdmin, 25 pontos de uso de socket.authRa nos handlers de tempo real.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3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50" b="1" i="0">
                <a:solidFill>
                  <a:srgbClr val="F4F4F5"/>
                </a:solidFill>
                <a:latin typeface="Inter"/>
              </a:rPr>
              <a:t>LGPD self-service — </a:t>
            </a:r>
            <a:r>
              <a:rPr sz="1350" b="0" i="0">
                <a:solidFill>
                  <a:srgbClr val="F4F4F5"/>
                </a:solidFill>
                <a:latin typeface="Inter"/>
              </a:rPr>
              <a:t>DELETE /api/account com exclusão real de dados próprios e anonimização respaldada no art. 16 da lei, em vez de simplesmente recusar o pedido.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3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50" b="1" i="0">
                <a:solidFill>
                  <a:srgbClr val="F4F4F5"/>
                </a:solidFill>
                <a:latin typeface="Inter"/>
              </a:rPr>
              <a:t>Diálogos temáticos — </a:t>
            </a:r>
            <a:r>
              <a:rPr sz="1350" b="0" i="0">
                <a:solidFill>
                  <a:srgbClr val="F4F4F5"/>
                </a:solidFill>
                <a:latin typeface="Inter"/>
              </a:rPr>
              <a:t>ConfirmContext/ToastContext substituindo window.confirm/alert nativos, que bloqueiam a thread principal e não podem ser estilizados — quebra de experiência num app já todo animado.</a:t>
            </a:r>
          </a:p>
          <a:p>
            <a:pPr>
              <a:lnSpc>
                <a:spcPct val="115000"/>
              </a:lnSpc>
              <a:spcAft>
                <a:spcPts val="1500"/>
              </a:spcAft>
            </a:pPr>
            <a:r>
              <a:rPr sz="13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350" b="1" i="0">
                <a:solidFill>
                  <a:srgbClr val="F4F4F5"/>
                </a:solidFill>
                <a:latin typeface="Inter"/>
              </a:rPr>
              <a:t>Bug de CSS corrigido na raiz — </a:t>
            </a:r>
            <a:r>
              <a:rPr sz="1350" b="0" i="0">
                <a:solidFill>
                  <a:srgbClr val="F4F4F5"/>
                </a:solidFill>
                <a:latin typeface="Inter"/>
              </a:rPr>
              <a:t>a armadilha do transform + position:fixed: o modal de pagamento PIX media e centralizava contra a altura do conteúdo rolável da página, não do viewport; corrigido restringindo a otimização de GPU a elementos-folha que nunca hospedam modais descendentes.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LIMITES CLAROS E DELIBERADOS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O que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NÃO</a:t>
            </a:r>
            <a:r>
              <a:rPr sz="2700" b="1" i="1">
                <a:solidFill>
                  <a:srgbClr val="FFFFFF"/>
                </a:solidFill>
                <a:latin typeface="Inter"/>
              </a:rPr>
              <a:t> está no escopo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1325880"/>
            <a:ext cx="11185855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4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50" b="1" i="0">
                <a:solidFill>
                  <a:srgbClr val="F4F4F5"/>
                </a:solidFill>
                <a:latin typeface="Inter"/>
              </a:rPr>
              <a:t>Modo convidado — </a:t>
            </a:r>
            <a:r>
              <a:rPr sz="1450" b="0" i="0">
                <a:solidFill>
                  <a:srgbClr val="F4F4F5"/>
                </a:solidFill>
                <a:latin typeface="Inter"/>
              </a:rPr>
              <a:t>dados de exemplo, sem contato com a FEF; não é uma conta real e não representa dados de nenhum aluno.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4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50" b="1" i="0">
                <a:solidFill>
                  <a:srgbClr val="F4F4F5"/>
                </a:solidFill>
                <a:latin typeface="Inter"/>
              </a:rPr>
              <a:t>Motor de scraping proprietário — </a:t>
            </a:r>
            <a:r>
              <a:rPr sz="1450" b="0" i="0">
                <a:solidFill>
                  <a:srgbClr val="F4F4F5"/>
                </a:solidFill>
                <a:latin typeface="Inter"/>
              </a:rPr>
              <a:t>não é distribuído publicamente; este repositório é uma vitrine técnica, não o código de produção completo.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4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50" b="1" i="0">
                <a:solidFill>
                  <a:srgbClr val="F4F4F5"/>
                </a:solidFill>
                <a:latin typeface="Inter"/>
              </a:rPr>
              <a:t>Projeto sem fins lucrativos — </a:t>
            </a:r>
            <a:r>
              <a:rPr sz="1450" b="0" i="0">
                <a:solidFill>
                  <a:srgbClr val="F4F4F5"/>
                </a:solidFill>
                <a:latin typeface="Inter"/>
              </a:rPr>
              <a:t>sem pretensão comercial, não substitui os canais oficiais da FEF para atos jurídicos, matrículas ou solicitações formais de LGPD sobre o registro acadêmico oficial.</a:t>
            </a:r>
          </a:p>
          <a:p>
            <a:pPr>
              <a:lnSpc>
                <a:spcPct val="115000"/>
              </a:lnSpc>
              <a:spcAft>
                <a:spcPts val="1700"/>
              </a:spcAft>
            </a:pPr>
            <a:r>
              <a:rPr sz="1450" b="1" i="0">
                <a:solidFill>
                  <a:srgbClr val="20B2AA"/>
                </a:solidFill>
                <a:latin typeface="Inter"/>
              </a:rPr>
              <a:t>•  </a:t>
            </a:r>
            <a:r>
              <a:rPr sz="1450" b="1" i="0">
                <a:solidFill>
                  <a:srgbClr val="F4F4F5"/>
                </a:solidFill>
                <a:latin typeface="Inter"/>
              </a:rPr>
              <a:t>Loja da atlética e doações — </a:t>
            </a:r>
            <a:r>
              <a:rPr sz="1450" b="0" i="0">
                <a:solidFill>
                  <a:srgbClr val="F4F4F5"/>
                </a:solidFill>
                <a:latin typeface="Inter"/>
              </a:rPr>
              <a:t>fluxos financeiros desacoplados do login; pagamento via WhatsApp (loja) ou InfinitePay (doações) — nunca passam pelo Sistemáticos.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48056"/>
            <a:ext cx="201168" cy="2032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365760"/>
            <a:ext cx="1089324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 spc="250">
                <a:solidFill>
                  <a:srgbClr val="20B2AA"/>
                </a:solidFill>
                <a:latin typeface="Consolas"/>
              </a:rPr>
              <a:t>O QUE QUALQUER ALUNO PERGUNTA PRIMEIRO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858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700" b="1" i="1">
                <a:solidFill>
                  <a:srgbClr val="FFFFFF"/>
                </a:solidFill>
                <a:latin typeface="Inter"/>
              </a:rPr>
              <a:t>Perguntas </a:t>
            </a:r>
            <a:r>
              <a:rPr sz="2700" b="1" i="1">
                <a:solidFill>
                  <a:srgbClr val="20B2AA"/>
                </a:solidFill>
                <a:latin typeface="Inter"/>
              </a:rPr>
              <a:t>rápidas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27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2920" y="1325880"/>
            <a:ext cx="5410047" cy="128016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wrap="square"/>
          <a:lstStyle/>
          <a:p>
            <a:pPr algn="ctr"/>
            <a:r>
              <a:rPr sz="1300" b="1" i="1">
                <a:solidFill>
                  <a:srgbClr val="20B2AA"/>
                </a:solidFill>
                <a:latin typeface="Inter"/>
              </a:rPr>
              <a:t>Isso é oficial da UniFEF?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F4F4F5"/>
                </a:solidFill>
                <a:latin typeface="Inter"/>
              </a:rPr>
              <a:t>Não — é um projeto independente, feito por um aluno.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43200"/>
            <a:ext cx="5410047" cy="128016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wrap="square"/>
          <a:lstStyle/>
          <a:p>
            <a:pPr algn="ctr"/>
            <a:r>
              <a:rPr sz="1300" b="1" i="1">
                <a:solidFill>
                  <a:srgbClr val="20B2AA"/>
                </a:solidFill>
                <a:latin typeface="Inter"/>
              </a:rPr>
              <a:t>Minha senha fica salva?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F4F4F5"/>
                </a:solidFill>
                <a:latin typeface="Inter"/>
              </a:rPr>
              <a:t>Não em texto puro, e não permanentemente.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160520"/>
            <a:ext cx="5410047" cy="128016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wrap="square"/>
          <a:lstStyle/>
          <a:p>
            <a:pPr algn="ctr"/>
            <a:r>
              <a:rPr sz="1300" b="1" i="1">
                <a:solidFill>
                  <a:srgbClr val="20B2AA"/>
                </a:solidFill>
                <a:latin typeface="Inter"/>
              </a:rPr>
              <a:t>As notas aparecem desatualizadas?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F4F4F5"/>
                </a:solidFill>
                <a:latin typeface="Inter"/>
              </a:rPr>
              <a:t>Não deveriam — cada tela busca os dados ao vivo no portal, no momento em que se abre.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325880"/>
            <a:ext cx="5410047" cy="128016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wrap="square"/>
          <a:lstStyle/>
          <a:p>
            <a:pPr algn="ctr"/>
            <a:r>
              <a:rPr sz="1300" b="1" i="1">
                <a:solidFill>
                  <a:srgbClr val="20B2AA"/>
                </a:solidFill>
                <a:latin typeface="Inter"/>
              </a:rPr>
              <a:t>Dá pra usar sem ser aluno da FEF?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F4F4F5"/>
                </a:solidFill>
                <a:latin typeface="Inter"/>
              </a:rPr>
              <a:t>Sim, pelo modo convidado — navega-se pela interface com dados de exemplo.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743200"/>
            <a:ext cx="5410047" cy="128016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wrap="square"/>
          <a:lstStyle/>
          <a:p>
            <a:pPr algn="ctr"/>
            <a:r>
              <a:rPr sz="1300" b="1" i="1">
                <a:solidFill>
                  <a:srgbClr val="20B2AA"/>
                </a:solidFill>
                <a:latin typeface="Inter"/>
              </a:rPr>
              <a:t>O app funciona offline?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F4F4F5"/>
                </a:solidFill>
                <a:latin typeface="Inter"/>
              </a:rPr>
              <a:t>Parcialmente — é um PWA, mas só páginas públicas ficam em cache; boletim e financeiro sempre exigem conexão.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4160520"/>
            <a:ext cx="5410047" cy="1280160"/>
          </a:xfrm>
          <a:prstGeom prst="roundRect">
            <a:avLst>
              <a:gd name="adj" fmla="val 6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64592" tIns="128016" wrap="square"/>
          <a:lstStyle/>
          <a:p>
            <a:pPr algn="ctr"/>
            <a:r>
              <a:rPr sz="1300" b="1" i="1">
                <a:solidFill>
                  <a:srgbClr val="20B2AA"/>
                </a:solidFill>
                <a:latin typeface="Inter"/>
              </a:rPr>
              <a:t>Cobra alguma coisa do aluno?</a:t>
            </a: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sz="1200" b="0" i="0">
                <a:solidFill>
                  <a:srgbClr val="F4F4F5"/>
                </a:solidFill>
                <a:latin typeface="Inter"/>
              </a:rPr>
              <a:t>Não — uso 100% gratuito; loja da atlética e doações são opcionais e desacopladas do login.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2286000" y="2286000"/>
            <a:ext cx="6400800" cy="5029200"/>
          </a:xfrm>
          <a:prstGeom prst="ellipse">
            <a:avLst/>
          </a:prstGeom>
          <a:solidFill>
            <a:srgbClr val="1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685800"/>
            <a:ext cx="457200" cy="25400"/>
          </a:xfrm>
          <a:prstGeom prst="rect">
            <a:avLst/>
          </a:prstGeom>
          <a:solidFill>
            <a:srgbClr val="20B2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9611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 spc="220">
                <a:solidFill>
                  <a:srgbClr val="20B2AA"/>
                </a:solidFill>
                <a:latin typeface="Consolas"/>
              </a:rPr>
              <a:t>AUTORIA E CONTATO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8585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200" b="1" i="1">
                <a:solidFill>
                  <a:srgbClr val="FFFFFF"/>
                </a:solidFill>
                <a:latin typeface="Inter"/>
              </a:rPr>
              <a:t>Obrigado.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ADAEB6"/>
                </a:solidFill>
                <a:latin typeface="Inter"/>
              </a:rPr>
              <a:t>Idealizado, desenhado e desenvolvido individualmente por </a:t>
            </a:r>
            <a:r>
              <a:rPr sz="1500" b="1" i="0">
                <a:solidFill>
                  <a:srgbClr val="F4F4F5"/>
                </a:solidFill>
                <a:latin typeface="Inter"/>
              </a:rPr>
              <a:t>Murilo Rocha Silva</a:t>
            </a:r>
            <a:r>
              <a:rPr sz="1500" b="0" i="0">
                <a:solidFill>
                  <a:srgbClr val="ADAEB6"/>
                </a:solidFill>
                <a:latin typeface="Inter"/>
              </a:rPr>
              <a:t> — 19 anos, programando há 3, 4º semestre de Sistemas de Informação na UniFEF, sem financiamento externo ou equipe.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46120"/>
            <a:ext cx="2590723" cy="868680"/>
          </a:xfrm>
          <a:prstGeom prst="roundRect">
            <a:avLst>
              <a:gd name="adj" fmla="val 8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ctr"/>
            <a:r>
              <a:rPr sz="950" b="1" i="0" spc="100">
                <a:solidFill>
                  <a:srgbClr val="84858D"/>
                </a:solidFill>
                <a:latin typeface="Consolas"/>
              </a:rPr>
              <a:t>GITHUB</a:t>
            </a:r>
          </a:p>
          <a:p>
            <a:pPr>
              <a:spcBef>
                <a:spcPts val="3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github.com/murilolol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7963" y="3246120"/>
            <a:ext cx="2590723" cy="868680"/>
          </a:xfrm>
          <a:prstGeom prst="roundRect">
            <a:avLst>
              <a:gd name="adj" fmla="val 8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ctr"/>
            <a:r>
              <a:rPr sz="950" b="1" i="0" spc="100">
                <a:solidFill>
                  <a:srgbClr val="84858D"/>
                </a:solidFill>
                <a:latin typeface="Consolas"/>
              </a:rPr>
              <a:t>INSTAGRAM</a:t>
            </a:r>
          </a:p>
          <a:p>
            <a:pPr>
              <a:spcBef>
                <a:spcPts val="3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@muriloodev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6" y="3246120"/>
            <a:ext cx="2590723" cy="868680"/>
          </a:xfrm>
          <a:prstGeom prst="roundRect">
            <a:avLst>
              <a:gd name="adj" fmla="val 8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ctr"/>
            <a:r>
              <a:rPr sz="950" b="1" i="0" spc="100">
                <a:solidFill>
                  <a:srgbClr val="84858D"/>
                </a:solidFill>
                <a:latin typeface="Consolas"/>
              </a:rPr>
              <a:t>LINKEDIN</a:t>
            </a:r>
          </a:p>
          <a:p>
            <a:pPr>
              <a:spcBef>
                <a:spcPts val="3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linkedin.com/in/murilodev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049" y="3246120"/>
            <a:ext cx="2590723" cy="868680"/>
          </a:xfrm>
          <a:prstGeom prst="roundRect">
            <a:avLst>
              <a:gd name="adj" fmla="val 8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wrap="square"/>
          <a:lstStyle/>
          <a:p>
            <a:pPr algn="ctr"/>
            <a:r>
              <a:rPr sz="950" b="1" i="0" spc="100">
                <a:solidFill>
                  <a:srgbClr val="84858D"/>
                </a:solidFill>
                <a:latin typeface="Consolas"/>
              </a:rPr>
              <a:t>SITE</a:t>
            </a:r>
          </a:p>
          <a:p>
            <a:pPr>
              <a:spcBef>
                <a:spcPts val="300"/>
              </a:spcBef>
            </a:pPr>
            <a:r>
              <a:rPr sz="1200" b="1" i="0">
                <a:solidFill>
                  <a:srgbClr val="20B2AA"/>
                </a:solidFill>
                <a:latin typeface="Inter"/>
              </a:rPr>
              <a:t>sistematicos.site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434840"/>
            <a:ext cx="11185855" cy="777240"/>
          </a:xfrm>
          <a:prstGeom prst="roundRect">
            <a:avLst>
              <a:gd name="adj" fmla="val 4000"/>
            </a:avLst>
          </a:prstGeom>
          <a:solidFill>
            <a:srgbClr val="151519"/>
          </a:solidFill>
          <a:ln w="9525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 wrap="square"/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ADAEB6"/>
                </a:solidFill>
                <a:latin typeface="Inter"/>
              </a:rPr>
              <a:t>Projeto pessoal, acadêmico e sem fins lucrativos, independente e sem vínculo formal ou endosso institucional por parte da UniFEF. O tratamento de dados pessoais segue os princípios da LGPD descritos nesta apresentação.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48640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1">
                <a:solidFill>
                  <a:srgbClr val="20B2AA"/>
                </a:solidFill>
                <a:latin typeface="Inter"/>
              </a:rPr>
              <a:t>Perguntas?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1" i="0" spc="150">
                <a:solidFill>
                  <a:srgbClr val="84858D"/>
                </a:solidFill>
                <a:latin typeface="Consolas"/>
              </a:rPr>
              <a:t>SISTEMÁTICOS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91495" y="647395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1" i="0">
                <a:solidFill>
                  <a:srgbClr val="84858D"/>
                </a:solidFill>
                <a:latin typeface="Consolas"/>
              </a:rPr>
              <a:t>28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2920" y="6382512"/>
            <a:ext cx="11185855" cy="0"/>
          </a:xfrm>
          <a:prstGeom prst="line">
            <a:avLst/>
          </a:prstGeom>
          <a:ln w="9525">
            <a:solidFill>
              <a:srgbClr val="2A2A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